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5"/>
  </p:notesMasterIdLst>
  <p:sldIdLst>
    <p:sldId id="256" r:id="rId2"/>
    <p:sldId id="325" r:id="rId3"/>
    <p:sldId id="326" r:id="rId4"/>
    <p:sldId id="327" r:id="rId5"/>
    <p:sldId id="328" r:id="rId6"/>
    <p:sldId id="329" r:id="rId7"/>
    <p:sldId id="336" r:id="rId8"/>
    <p:sldId id="337" r:id="rId9"/>
    <p:sldId id="330" r:id="rId10"/>
    <p:sldId id="338" r:id="rId11"/>
    <p:sldId id="339" r:id="rId12"/>
    <p:sldId id="334" r:id="rId13"/>
    <p:sldId id="324" r:id="rId14"/>
  </p:sldIdLst>
  <p:sldSz cx="12192000" cy="6858000"/>
  <p:notesSz cx="6858000" cy="12192000"/>
  <p:embeddedFontLst>
    <p:embeddedFont>
      <p:font typeface="Aharoni" panose="02010803020104030203" pitchFamily="2" charset="-79"/>
      <p:bold r:id="rId16"/>
    </p:embeddedFont>
    <p:embeddedFont>
      <p:font typeface="Arial Rounded MT Bold" panose="020F0704030504030204" pitchFamily="34" charset="0"/>
      <p:regular r:id="rId17"/>
    </p:embeddedFont>
    <p:embeddedFont>
      <p:font typeface="Maiandra GD" panose="020E0502030308020204" pitchFamily="34" charset="0"/>
      <p:regular r:id="rId18"/>
    </p:embeddedFont>
  </p:embeddedFontLst>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42F484E2-D13C-4198-809A-BEC5E46278DC}" styleName="Style 3">
    <a:wholeTbl>
      <a:tcTxStyle>
        <a:fontRef idx="minor">
          <a:srgbClr val="000000"/>
        </a:fontRef>
        <a:schemeClr val="tx1"/>
      </a:tcTxStyle>
      <a:tcStyle>
        <a:tcBdr>
          <a:left>
            <a:ln w="12700">
              <a:solidFill>
                <a:schemeClr val="accent1"/>
              </a:solidFill>
            </a:ln>
          </a:left>
          <a:right>
            <a:ln w="12700">
              <a:solidFill>
                <a:schemeClr val="accent1"/>
              </a:solidFill>
            </a:ln>
          </a:right>
          <a:top>
            <a:ln w="12700">
              <a:solidFill>
                <a:schemeClr val="accent1"/>
              </a:solidFill>
            </a:ln>
          </a:top>
          <a:bottom>
            <a:ln w="12700">
              <a:solidFill>
                <a:schemeClr val="accent1"/>
              </a:solidFill>
            </a:ln>
          </a:bottom>
          <a:insideH>
            <a:ln w="12700">
              <a:solidFill>
                <a:schemeClr val="accent1"/>
              </a:solidFill>
            </a:ln>
          </a:insideH>
          <a:insideV>
            <a:ln w="12700">
              <a:solidFill>
                <a:schemeClr val="accent1"/>
              </a:solidFill>
            </a:ln>
          </a:insideV>
        </a:tcBdr>
        <a:fill>
          <a:noFill/>
        </a:fill>
      </a:tcStyle>
    </a:wholeTbl>
    <a:band1H>
      <a:tcStyle>
        <a:tcBdr/>
        <a:fill>
          <a:solidFill>
            <a:schemeClr val="accent1">
              <a:alpha val="19999"/>
            </a:schemeClr>
          </a:solidFill>
        </a:fill>
      </a:tcStyle>
    </a:band1H>
    <a:band1V>
      <a:tcStyle>
        <a:tcBdr/>
        <a:fill>
          <a:solidFill>
            <a:schemeClr val="accent1">
              <a:alpha val="19999"/>
            </a:schemeClr>
          </a:solidFill>
        </a:fill>
      </a:tcStyle>
    </a:band1V>
    <a:lastCol>
      <a:tcTxStyle b="on"/>
      <a:tcStyle>
        <a:tcBdr/>
      </a:tcStyle>
    </a:lastCol>
    <a:firstCol>
      <a:tcTxStyle b="on"/>
      <a:tcStyle>
        <a:tcBdr/>
      </a:tcStyle>
    </a:firstCol>
    <a:lastRow>
      <a:tcTxStyle b="on"/>
      <a:tcStyle>
        <a:tcBdr>
          <a:top>
            <a:ln w="50800">
              <a:solidFill>
                <a:schemeClr val="accent1"/>
              </a:solidFill>
            </a:ln>
          </a:top>
        </a:tcBdr>
        <a:fill>
          <a:noFill/>
        </a:fill>
      </a:tcStyle>
    </a:lastRow>
    <a:firstRow>
      <a:tcTxStyle b="on"/>
      <a:tcStyle>
        <a:tcBdr>
          <a:bottom>
            <a:ln w="25400">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63" autoAdjust="0"/>
    <p:restoredTop sz="86405" autoAdjust="0"/>
  </p:normalViewPr>
  <p:slideViewPr>
    <p:cSldViewPr>
      <p:cViewPr varScale="1">
        <p:scale>
          <a:sx n="71" d="100"/>
          <a:sy n="71" d="100"/>
        </p:scale>
        <p:origin x="133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671638" cy="81562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185095" y="0"/>
            <a:ext cx="1671638" cy="815623"/>
          </a:xfrm>
          <a:prstGeom prst="rect">
            <a:avLst/>
          </a:prstGeom>
        </p:spPr>
        <p:txBody>
          <a:bodyPr vert="horz" lIns="91440" tIns="45720" rIns="91440" bIns="45720" rtlCol="0"/>
          <a:lstStyle>
            <a:lvl1pPr algn="r">
              <a:defRPr sz="1200"/>
            </a:lvl1pPr>
          </a:lstStyle>
          <a:p>
            <a:fld id="{44B65459-4C01-9248-BDAA-F28591FAF6F5}" type="datetimeFigureOut">
              <a:rPr lang="en-US" smtClean="0"/>
              <a:t>9/29/2026</a:t>
            </a:fld>
            <a:endParaRPr lang="en-US"/>
          </a:p>
        </p:txBody>
      </p:sp>
      <p:sp>
        <p:nvSpPr>
          <p:cNvPr id="4" name="Slide Image Placeholder 3"/>
          <p:cNvSpPr>
            <a:spLocks noGrp="1" noRot="1" noChangeAspect="1"/>
          </p:cNvSpPr>
          <p:nvPr>
            <p:ph type="sldImg" idx="2"/>
          </p:nvPr>
        </p:nvSpPr>
        <p:spPr>
          <a:xfrm>
            <a:off x="-2947988" y="2032000"/>
            <a:ext cx="9753601" cy="5486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85763" y="7823200"/>
            <a:ext cx="3086100" cy="6400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5440380"/>
            <a:ext cx="1671638" cy="81562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185095" y="15440380"/>
            <a:ext cx="1671638" cy="815621"/>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327042-6B61-B148-8485-8BBBFAA13D24}" type="slidenum">
              <a:rPr lang="en-US" smtClean="0"/>
              <a:t>9</a:t>
            </a:fld>
            <a:endParaRPr lang="en-US"/>
          </a:p>
        </p:txBody>
      </p:sp>
    </p:spTree>
    <p:extLst>
      <p:ext uri="{BB962C8B-B14F-4D97-AF65-F5344CB8AC3E}">
        <p14:creationId xmlns:p14="http://schemas.microsoft.com/office/powerpoint/2010/main" val="1657690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327042-6B61-B148-8485-8BBBFAA13D24}" type="slidenum">
              <a:rPr lang="en-US" smtClean="0"/>
              <a:t>10</a:t>
            </a:fld>
            <a:endParaRPr lang="en-US"/>
          </a:p>
        </p:txBody>
      </p:sp>
    </p:spTree>
    <p:extLst>
      <p:ext uri="{BB962C8B-B14F-4D97-AF65-F5344CB8AC3E}">
        <p14:creationId xmlns:p14="http://schemas.microsoft.com/office/powerpoint/2010/main" val="31691756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3DCFA7E3-AF1E-4675-AD18-D5B679F37F4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4E6D2F1-D737-43DE-B4CE-C454EF7BBD4A}"/>
              </a:ext>
            </a:extLst>
          </p:cNvPr>
          <p:cNvSpPr>
            <a:spLocks noGrp="1"/>
          </p:cNvSpPr>
          <p:nvPr>
            <p:ph type="title"/>
          </p:nvPr>
        </p:nvSpPr>
        <p:spPr>
          <a:xfrm>
            <a:off x="1524000" y="1854199"/>
            <a:ext cx="9144000" cy="1655763"/>
          </a:xfrm>
        </p:spPr>
        <p:txBody>
          <a:bodyPr rtlCol="0" anchor="b"/>
          <a:lstStyle>
            <a:lvl1pPr lvl="0" algn="ctr">
              <a:defRPr lang="en-US" sz="6000" dirty="0"/>
            </a:lvl1pPr>
          </a:lstStyle>
          <a:p>
            <a:r>
              <a:rPr lang="en-US" dirty="0"/>
              <a:t>Click to edit Master title style</a:t>
            </a:r>
          </a:p>
        </p:txBody>
      </p:sp>
      <p:sp>
        <p:nvSpPr>
          <p:cNvPr id="3" name="Subtitle 2">
            <a:extLst>
              <a:ext uri="{32171CF1-2CD1-4848-A55A-5A508E25A32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04F51DF-EF08-4C97-A330-FD7D92F0EA98}"/>
              </a:ext>
            </a:extLst>
          </p:cNvPr>
          <p:cNvSpPr>
            <a:spLocks noGrp="1"/>
          </p:cNvSpPr>
          <p:nvPr>
            <p:ph type="subTitle" idx="1"/>
          </p:nvPr>
        </p:nvSpPr>
        <p:spPr>
          <a:xfrm>
            <a:off x="1524000" y="3602038"/>
            <a:ext cx="9144000" cy="1655762"/>
          </a:xfrm>
        </p:spPr>
        <p:txBody>
          <a:bodyPr rtlCol="0"/>
          <a:lstStyle>
            <a:lvl1pPr marL="0" lvl="0" indent="0" algn="ctr">
              <a:buNone/>
              <a:defRPr lang="en-US" sz="2400" dirty="0"/>
            </a:lvl1pPr>
            <a:lvl2pPr marL="457200" lvl="1" indent="0" algn="ctr">
              <a:buNone/>
              <a:defRPr lang="en-US" sz="2000" dirty="0"/>
            </a:lvl2pPr>
            <a:lvl3pPr marL="914400" lvl="2" indent="0" algn="ctr">
              <a:buNone/>
              <a:defRPr lang="en-US" sz="1800" dirty="0"/>
            </a:lvl3pPr>
            <a:lvl4pPr marL="1371600" lvl="3" indent="0" algn="ctr">
              <a:buNone/>
              <a:defRPr lang="en-US" sz="1600" dirty="0"/>
            </a:lvl4pPr>
            <a:lvl5pPr marL="1828800" lvl="4" indent="0" algn="ctr">
              <a:buNone/>
              <a:defRPr lang="en-US" sz="1600" dirty="0"/>
            </a:lvl5pPr>
            <a:lvl6pPr marL="2286000" lvl="5" indent="0" algn="ctr">
              <a:buNone/>
              <a:defRPr lang="en-US" sz="1600" dirty="0"/>
            </a:lvl6pPr>
            <a:lvl7pPr marL="2743200" lvl="6" indent="0" algn="ctr">
              <a:buNone/>
              <a:defRPr lang="en-US" sz="1600" dirty="0"/>
            </a:lvl7pPr>
            <a:lvl8pPr marL="3200400" lvl="7" indent="0" algn="ctr">
              <a:buNone/>
              <a:defRPr lang="en-US" sz="1600" dirty="0"/>
            </a:lvl8pPr>
            <a:lvl9pPr marL="3657600" lvl="8" indent="0" algn="ctr">
              <a:buNone/>
              <a:defRPr lang="en-US" sz="1600" dirty="0"/>
            </a:lvl9pPr>
          </a:lstStyle>
          <a:p>
            <a:r>
              <a:rPr lang="en-US" dirty="0"/>
              <a:t>Click to edit Master subtitle style</a:t>
            </a:r>
          </a:p>
        </p:txBody>
      </p:sp>
      <p:pic>
        <p:nvPicPr>
          <p:cNvPr id="4" name="Picture 3">
            <a:extLst>
              <a:ext uri="{C1EB77FD-C848-422B-B273-451CDA41F43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1682ECF-C071-4F62-8564-87ABCCA31ACA}"/>
              </a:ext>
            </a:extLst>
          </p:cNvPr>
          <p:cNvPicPr>
            <a:picLocks noChangeAspect="1"/>
          </p:cNvPicPr>
          <p:nvPr userDrawn="1"/>
        </p:nvPicPr>
        <p:blipFill>
          <a:blip r:embed="rId2"/>
          <a:stretch>
            <a:fillRect/>
          </a:stretch>
        </p:blipFill>
        <p:spPr>
          <a:xfrm>
            <a:off x="2567608" y="592088"/>
            <a:ext cx="7609140" cy="1008112"/>
          </a:xfrm>
          <a:prstGeom prst="rect">
            <a:avLst/>
          </a:prstGeom>
          <a:noFill/>
        </p:spPr>
      </p:pic>
      <p:sp>
        <p:nvSpPr>
          <p:cNvPr id="5" name="Footer Placeholder 4">
            <a:extLst>
              <a:ext uri="{C687AB22-C009-4796-A595-4B274F53E9E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9EC38CB-622C-4106-803A-85E3D5477226}"/>
              </a:ext>
            </a:extLst>
          </p:cNvPr>
          <p:cNvSpPr>
            <a:spLocks noGrp="1"/>
          </p:cNvSpPr>
          <p:nvPr>
            <p:ph type="ftr" sz="quarter" idx="11"/>
          </p:nvPr>
        </p:nvSpPr>
        <p:spPr/>
        <p:txBody>
          <a:bodyPr rtlCol="0"/>
          <a:lstStyle>
            <a:lvl1pPr lvl="0"/>
          </a:lstStyle>
          <a:p>
            <a:r>
              <a:rPr lang="en-US"/>
              <a:t>PBL Course Name: Object Oriented Programming through C++(2501CS08)     REVIEW-1</a:t>
            </a:r>
            <a:endParaRPr lang="en-US" dirty="0"/>
          </a:p>
        </p:txBody>
      </p:sp>
      <p:sp>
        <p:nvSpPr>
          <p:cNvPr id="6" name="Slide Number Placeholder 5">
            <a:extLst>
              <a:ext uri="{30F4214F-3E4E-4B8B-8AC2-BF59D50B2CD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25D679E-58E0-45F1-BEFC-163C6EEC181D}"/>
              </a:ext>
            </a:extLst>
          </p:cNvPr>
          <p:cNvSpPr>
            <a:spLocks noGrp="1"/>
          </p:cNvSpPr>
          <p:nvPr>
            <p:ph type="sldNum" sz="quarter" idx="12"/>
          </p:nvPr>
        </p:nvSpPr>
        <p:spPr/>
        <p:txBody>
          <a:bodyPr rtlCol="0"/>
          <a:lstStyle>
            <a:lvl1pPr lvl="0"/>
          </a:lstStyle>
          <a:p>
            <a:r>
              <a:rPr lang="en-US" dirty="0"/>
              <a:t>&lt;#&gt;</a:t>
            </a:r>
          </a:p>
        </p:txBody>
      </p:sp>
      <p:sp>
        <p:nvSpPr>
          <p:cNvPr id="7" name="Date Placeholder 3">
            <a:extLst>
              <a:ext uri="{02364871-6258-47BB-A41D-1E9BEBD3EA9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E775BF1-9C64-4531-A7E2-730347FD3CA5}"/>
              </a:ext>
            </a:extLst>
          </p:cNvPr>
          <p:cNvSpPr>
            <a:spLocks noGrp="1"/>
          </p:cNvSpPr>
          <p:nvPr>
            <p:ph type="dt" sz="half" idx="10"/>
          </p:nvPr>
        </p:nvSpPr>
        <p:spPr/>
        <p:txBody>
          <a:bodyPr rtlCol="0"/>
          <a:lstStyle>
            <a:lvl1pPr lvl="0"/>
          </a:lstStyle>
          <a:p>
            <a:fld id="{23B885CB-12B0-4AB7-A523-856A576656C9}" type="datetime1">
              <a:rPr lang="en-US" smtClean="0"/>
              <a:t>9/29/2026</a:t>
            </a:fld>
            <a:endParaRPr lang="en-US" dirty="0"/>
          </a:p>
        </p:txBody>
      </p:sp>
    </p:spTree>
    <p:extLst>
      <p:ext uri="{7D129387-9967-4C73-939D-69EF041DFD9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Content Placeholder 2">
            <a:extLst>
              <a:ext uri="{05269A97-DC81-49F9-B896-84CAB659C6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56F5785-025F-4915-96E3-0AFF7163BC15}"/>
              </a:ext>
            </a:extLst>
          </p:cNvPr>
          <p:cNvSpPr>
            <a:spLocks noGrp="1"/>
          </p:cNvSpPr>
          <p:nvPr>
            <p:ph/>
          </p:nvPr>
        </p:nvSpPr>
        <p:spPr>
          <a:xfrm>
            <a:off x="869085" y="1561876"/>
            <a:ext cx="10515600" cy="4531419"/>
          </a:xfrm>
        </p:spPr>
        <p:txBody>
          <a:bodyPr rtlCol="0"/>
          <a:lstStyle>
            <a:lvl1pPr marL="457200" lvl="0" indent="0">
              <a:buNone/>
            </a:lvl1pPr>
            <a:lvl2pPr marL="914400" lvl="1" indent="0">
              <a:buNone/>
            </a:lvl2pPr>
            <a:lvl3pPr marL="1371600" lvl="2" indent="0">
              <a:buNone/>
            </a:lvl3pPr>
            <a:lvl4pPr marL="1828800" lvl="3" indent="0">
              <a:buNone/>
            </a:lvl4pPr>
          </a:lstStyle>
          <a:p>
            <a:pPr lvl="0"/>
            <a:r>
              <a:rPr lang="en-US" dirty="0"/>
              <a:t>Click to edit Master text styles</a:t>
            </a:r>
          </a:p>
        </p:txBody>
      </p:sp>
      <p:sp>
        <p:nvSpPr>
          <p:cNvPr id="3" name="Date Placeholder 2">
            <a:extLst>
              <a:ext uri="{C7EE3D1E-6A2F-4B40-9445-6784FC740A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4C561F3-3431-4CB3-94B3-3A3D9CDA63D8}"/>
              </a:ext>
            </a:extLst>
          </p:cNvPr>
          <p:cNvSpPr>
            <a:spLocks noGrp="1"/>
          </p:cNvSpPr>
          <p:nvPr>
            <p:ph type="dt" sz="half" idx="1"/>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C20F1802-9C65-458A-8FBF-F4B557FF2340}" type="datetime1">
              <a:rPr lang="en-US" smtClean="0"/>
              <a:t>9/29/2026</a:t>
            </a:fld>
            <a:endParaRPr lang="en-US" dirty="0"/>
          </a:p>
        </p:txBody>
      </p:sp>
      <p:sp>
        <p:nvSpPr>
          <p:cNvPr id="4" name="Footer Placeholder 3">
            <a:extLst>
              <a:ext uri="{E2B100E3-D1A2-4814-971B-1F28BC986BE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6403740-14DB-4D0C-AC81-1640F2592B4A}"/>
              </a:ext>
            </a:extLst>
          </p:cNvPr>
          <p:cNvSpPr>
            <a:spLocks noGrp="1"/>
          </p:cNvSpPr>
          <p:nvPr>
            <p:ph type="ftr" sz="quarter" idx="2"/>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PBL Course Name: Object Oriented Programming through C++(2501CS08)     REVIEW-1</a:t>
            </a:r>
            <a:endParaRPr lang="en-US" dirty="0"/>
          </a:p>
        </p:txBody>
      </p:sp>
      <p:pic>
        <p:nvPicPr>
          <p:cNvPr id="5" name="Picture 2">
            <a:extLst>
              <a:ext uri="{DAD87817-DB1B-4DE8-BD41-41BB3E99A74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3518EA9-28E9-4397-BCB4-F5D7ABFF9E3A}"/>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6" name="Slide Number Placeholder 3">
            <a:extLst>
              <a:ext uri="{8B62DEED-5952-4478-9464-706CCDCB22D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265A311-D434-4806-B3C0-ED40E2B04ADB}"/>
              </a:ext>
            </a:extLst>
          </p:cNvPr>
          <p:cNvSpPr>
            <a:spLocks noGrp="1"/>
          </p:cNvSpPr>
          <p:nvPr>
            <p:ph type="sldNum" sz="quarter" idx="3"/>
          </p:nvPr>
        </p:nvSpPr>
        <p:spPr>
          <a:xfrm>
            <a:off x="10272464" y="6356350"/>
            <a:ext cx="1081336" cy="365125"/>
          </a:xfrm>
        </p:spPr>
        <p:txBody>
          <a:bodyPr rtlCol="0"/>
          <a:lstStyle/>
          <a:p>
            <a:fld id="{9359D16F-76A5-41BA-ADDD-CBF352B33DDD}" type="slidenum">
              <a:t>‹#›</a:t>
            </a:fld>
            <a:endParaRPr lang="en-US" dirty="0"/>
          </a:p>
        </p:txBody>
      </p:sp>
    </p:spTree>
    <p:extLst>
      <p:ext uri="{E791D5F0-FCE4-45B8-828D-F7D7E855498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2">
            <a:extLst>
              <a:ext uri="{2A124749-B5E7-4428-BF59-41C47B6A61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8CFA2DB-E1A9-463A-BC5A-35A8CCF5293E}"/>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3" name="Date Placeholder 2">
            <a:extLst>
              <a:ext uri="{E7A761B9-81CB-49B2-8BE6-983B6B07B3D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F471AC3-982D-4B96-9E59-D3B6F74D9039}"/>
              </a:ext>
            </a:extLst>
          </p:cNvPr>
          <p:cNvSpPr>
            <a:spLocks noGrp="1"/>
          </p:cNvSpPr>
          <p:nvPr>
            <p:ph type="dt" sz="half" idx="10"/>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E761D253-940C-44B0-8F51-8C8A37AEAF73}" type="datetime1">
              <a:rPr lang="en-US" smtClean="0"/>
              <a:t>9/29/2026</a:t>
            </a:fld>
            <a:endParaRPr lang="en-US" dirty="0"/>
          </a:p>
        </p:txBody>
      </p:sp>
      <p:sp>
        <p:nvSpPr>
          <p:cNvPr id="4" name="Footer Placeholder 3">
            <a:extLst>
              <a:ext uri="{7A687B93-B742-4FC6-AC3F-36C63D4DF72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5844C2E-6153-4C88-A824-95DE18C30385}"/>
              </a:ext>
            </a:extLst>
          </p:cNvPr>
          <p:cNvSpPr>
            <a:spLocks noGrp="1"/>
          </p:cNvSpPr>
          <p:nvPr>
            <p:ph type="ftr" sz="quarter" idx="11"/>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PBL Course Name: Object Oriented Programming through C++(2501CS08)     REVIEW-1</a:t>
            </a:r>
            <a:endParaRPr lang="en-US" dirty="0"/>
          </a:p>
        </p:txBody>
      </p:sp>
      <p:sp>
        <p:nvSpPr>
          <p:cNvPr id="5" name="Slide Number Placeholder 3">
            <a:extLst>
              <a:ext uri="{A59E037D-D639-4F65-9477-94A0EBCDC4E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C0A76B5-951D-4394-8F2D-A4E34AC06D08}"/>
              </a:ext>
            </a:extLst>
          </p:cNvPr>
          <p:cNvSpPr>
            <a:spLocks noGrp="1"/>
          </p:cNvSpPr>
          <p:nvPr>
            <p:ph type="sldNum" sz="quarter" idx="12"/>
          </p:nvPr>
        </p:nvSpPr>
        <p:spPr>
          <a:xfrm>
            <a:off x="10272464" y="6356350"/>
            <a:ext cx="1081336" cy="365125"/>
          </a:xfrm>
        </p:spPr>
        <p:txBody>
          <a:bodyPr rtlCol="0"/>
          <a:lstStyle/>
          <a:p>
            <a:fld id="{D9C5B093-D3DD-4808-813A-F58BF8E67773}" type="slidenum">
              <a:t>‹#›</a:t>
            </a:fld>
            <a:endParaRPr lang="en-US" dirty="0"/>
          </a:p>
        </p:txBody>
      </p:sp>
    </p:spTree>
    <p:extLst>
      <p:ext uri="{917857EF-1D39-4225-A829-037EB1D2793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Ref idx="1001">
        <a:schemeClr val="bg1"/>
      </p:bgRef>
    </p:bg>
    <p:spTree>
      <p:nvGrpSpPr>
        <p:cNvPr id="1" name=""/>
        <p:cNvGrpSpPr/>
        <p:nvPr/>
      </p:nvGrpSpPr>
      <p:grpSpPr>
        <a:xfrm>
          <a:off x="0" y="0"/>
          <a:ext cx="0" cy="0"/>
          <a:chOff x="0" y="0"/>
          <a:chExt cx="0" cy="0"/>
        </a:xfrm>
      </p:grpSpPr>
      <p:sp>
        <p:nvSpPr>
          <p:cNvPr id="2" name="Title Placeholder 1">
            <a:extLst>
              <a:ext uri="{48EA39CE-E158-4B2A-99CD-545B14A22D3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313CDBB-BA82-4DED-973B-07A500BC5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76CEBE57-5AC2-4233-9D99-CAE469A4C85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438A3C5-0C27-48D9-9FD4-D716863017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5757E326-5F3E-43A1-830E-27FE2CE96B3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1FB99B2-34CB-4F0C-AABD-9CC4327C4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lvl="0" algn="l">
              <a:defRPr lang="en-US" sz="1200" dirty="0">
                <a:solidFill>
                  <a:schemeClr val="tx1">
                    <a:tint val="75000"/>
                  </a:schemeClr>
                </a:solidFill>
              </a:defRPr>
            </a:lvl1pPr>
          </a:lstStyle>
          <a:p>
            <a:fld id="{022B5FF2-DAF6-4310-9A1D-797D39C1E342}" type="datetime1">
              <a:rPr lang="en-US" smtClean="0"/>
              <a:t>9/29/2026</a:t>
            </a:fld>
            <a:endParaRPr lang="en-US" dirty="0"/>
          </a:p>
        </p:txBody>
      </p:sp>
      <p:sp>
        <p:nvSpPr>
          <p:cNvPr id="5" name="Footer Placeholder 4">
            <a:extLst>
              <a:ext uri="{71906065-35B4-4935-A9D1-FD668DE1E59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7A5B885-A2DA-46BA-BC42-719D5CA3E2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lvl="0" algn="ctr">
              <a:defRPr lang="en-US" sz="1200" dirty="0">
                <a:solidFill>
                  <a:schemeClr val="tx1">
                    <a:tint val="75000"/>
                  </a:schemeClr>
                </a:solidFill>
              </a:defRPr>
            </a:lvl1pPr>
          </a:lstStyle>
          <a:p>
            <a:r>
              <a:rPr lang="en-US"/>
              <a:t>PBL Course Name: Object Oriented Programming through C++(2501CS08)     REVIEW-1</a:t>
            </a:r>
            <a:endParaRPr lang="en-US" dirty="0"/>
          </a:p>
        </p:txBody>
      </p:sp>
      <p:sp>
        <p:nvSpPr>
          <p:cNvPr id="6" name="Slide Number Placeholder 5">
            <a:extLst>
              <a:ext uri="{35F2950A-B1CB-4727-AB58-367C2C82CEA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979ABAE-2F0E-462F-935B-AC49E1A2F7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lvl="0" algn="r">
              <a:defRPr lang="en-US" sz="1200" dirty="0">
                <a:solidFill>
                  <a:schemeClr val="tx1">
                    <a:tint val="75000"/>
                  </a:schemeClr>
                </a:solidFill>
              </a:defRPr>
            </a:lvl1pPr>
          </a:lstStyle>
          <a:p>
            <a:fld id="{C0FA9481-3A84-418C-9FCC-1F8C2D158F80}" type="slidenum">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p:txStyles>
    <p:titleStyle>
      <a:lvl1pPr lvl="0" algn="l" rtl="0">
        <a:lnSpc>
          <a:spcPct val="90000"/>
        </a:lnSpc>
        <a:spcBef>
          <a:spcPct val="0"/>
        </a:spcBef>
        <a:buNone/>
        <a:defRPr lang="en-US" sz="4400" dirty="0">
          <a:solidFill>
            <a:schemeClr val="tx1"/>
          </a:solidFill>
          <a:latin typeface="+mj-lt"/>
        </a:defRPr>
      </a:lvl1pPr>
    </p:titleStyle>
    <p:bodyStyle>
      <a:lvl1pPr marL="228600" lvl="0" indent="-228600" algn="l" rtl="0">
        <a:lnSpc>
          <a:spcPct val="90000"/>
        </a:lnSpc>
        <a:spcBef>
          <a:spcPts val="1000"/>
        </a:spcBef>
        <a:buChar char="•"/>
        <a:defRPr lang="en-US" sz="2800" dirty="0">
          <a:solidFill>
            <a:schemeClr val="tx1"/>
          </a:solidFill>
          <a:latin typeface="+mn-lt"/>
        </a:defRPr>
      </a:lvl1pPr>
      <a:lvl2pPr marL="685800" lvl="1" indent="-228600" algn="l" rtl="0">
        <a:lnSpc>
          <a:spcPct val="90000"/>
        </a:lnSpc>
        <a:spcBef>
          <a:spcPts val="500"/>
        </a:spcBef>
        <a:buChar char="•"/>
        <a:defRPr lang="en-US" sz="2400" dirty="0">
          <a:solidFill>
            <a:schemeClr val="tx1"/>
          </a:solidFill>
          <a:latin typeface="+mn-lt"/>
        </a:defRPr>
      </a:lvl2pPr>
      <a:lvl3pPr marL="1143000" lvl="2" indent="-228600" algn="l" rtl="0">
        <a:lnSpc>
          <a:spcPct val="90000"/>
        </a:lnSpc>
        <a:spcBef>
          <a:spcPts val="500"/>
        </a:spcBef>
        <a:buChar char="•"/>
        <a:defRPr lang="en-US" sz="2000" dirty="0">
          <a:solidFill>
            <a:schemeClr val="tx1"/>
          </a:solidFill>
          <a:latin typeface="+mn-lt"/>
        </a:defRPr>
      </a:lvl3pPr>
      <a:lvl4pPr marL="1600200" lvl="3" indent="-228600" algn="l" rtl="0">
        <a:lnSpc>
          <a:spcPct val="90000"/>
        </a:lnSpc>
        <a:spcBef>
          <a:spcPts val="500"/>
        </a:spcBef>
        <a:buChar char="•"/>
        <a:defRPr lang="en-US" sz="1800" dirty="0">
          <a:solidFill>
            <a:schemeClr val="tx1"/>
          </a:solidFill>
          <a:latin typeface="+mn-lt"/>
        </a:defRPr>
      </a:lvl4pPr>
      <a:lvl5pPr marL="2057400" lvl="4" indent="-228600" algn="l" rtl="0">
        <a:lnSpc>
          <a:spcPct val="90000"/>
        </a:lnSpc>
        <a:spcBef>
          <a:spcPts val="500"/>
        </a:spcBef>
        <a:buChar char="•"/>
        <a:defRPr lang="en-US" sz="1800" dirty="0">
          <a:solidFill>
            <a:schemeClr val="tx1"/>
          </a:solidFill>
          <a:latin typeface="+mn-lt"/>
        </a:defRPr>
      </a:lvl5pPr>
      <a:lvl6pPr marL="2514600" lvl="5" indent="-228600" algn="l" rtl="0">
        <a:lnSpc>
          <a:spcPct val="90000"/>
        </a:lnSpc>
        <a:spcBef>
          <a:spcPts val="500"/>
        </a:spcBef>
        <a:buChar char="•"/>
        <a:defRPr lang="en-US" sz="1800" dirty="0">
          <a:solidFill>
            <a:schemeClr val="tx1"/>
          </a:solidFill>
          <a:latin typeface="+mn-lt"/>
        </a:defRPr>
      </a:lvl6pPr>
      <a:lvl7pPr marL="2971800" lvl="6" indent="-228600" algn="l" rtl="0">
        <a:lnSpc>
          <a:spcPct val="90000"/>
        </a:lnSpc>
        <a:spcBef>
          <a:spcPts val="500"/>
        </a:spcBef>
        <a:buChar char="•"/>
        <a:defRPr lang="en-US" sz="1800" dirty="0">
          <a:solidFill>
            <a:schemeClr val="tx1"/>
          </a:solidFill>
          <a:latin typeface="+mn-lt"/>
        </a:defRPr>
      </a:lvl7pPr>
      <a:lvl8pPr marL="3429000" lvl="7" indent="-228600" algn="l" rtl="0">
        <a:lnSpc>
          <a:spcPct val="90000"/>
        </a:lnSpc>
        <a:spcBef>
          <a:spcPts val="500"/>
        </a:spcBef>
        <a:buChar char="•"/>
        <a:defRPr lang="en-US" sz="1800" dirty="0">
          <a:solidFill>
            <a:schemeClr val="tx1"/>
          </a:solidFill>
          <a:latin typeface="+mn-lt"/>
        </a:defRPr>
      </a:lvl8pPr>
      <a:lvl9pPr marL="3886200" lvl="8" indent="-228600" algn="l" rtl="0">
        <a:lnSpc>
          <a:spcPct val="90000"/>
        </a:lnSpc>
        <a:spcBef>
          <a:spcPts val="500"/>
        </a:spcBef>
        <a:buChar char="•"/>
        <a:defRPr lang="en-US" sz="18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chemeClr val="bg1"/>
        </a:solidFill>
        <a:effectLst/>
      </p:bgPr>
    </p:bg>
    <p:spTree>
      <p:nvGrpSpPr>
        <p:cNvPr id="1" name=""/>
        <p:cNvGrpSpPr/>
        <p:nvPr/>
      </p:nvGrpSpPr>
      <p:grpSpPr>
        <a:xfrm>
          <a:off x="0" y="0"/>
          <a:ext cx="0" cy="0"/>
          <a:chOff x="0" y="0"/>
          <a:chExt cx="0" cy="0"/>
        </a:xfrm>
      </p:grpSpPr>
      <p:sp>
        <p:nvSpPr>
          <p:cNvPr id="2" name="Title 1">
            <a:extLst>
              <a:ext uri="{5173A155-D39B-4A4B-8D04-AEDF7C74512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5635022-F8A5-4229-B18F-290C3D3C64FB}"/>
              </a:ext>
            </a:extLst>
          </p:cNvPr>
          <p:cNvSpPr txBox="1"/>
          <p:nvPr/>
        </p:nvSpPr>
        <p:spPr>
          <a:xfrm>
            <a:off x="1055440" y="1700808"/>
            <a:ext cx="10696612" cy="1944216"/>
          </a:xfrm>
          <a:prstGeom prst="rect">
            <a:avLst/>
          </a:prstGeom>
        </p:spPr>
        <p:txBody>
          <a:bodyPr vert="horz" lIns="91440" tIns="45720" rIns="91440" bIns="45720" rtlCol="0" anchor="b">
            <a:noAutofit/>
          </a:bodyPr>
          <a:lstStyle/>
          <a:p>
            <a:pPr lvl="0" algn="ctr">
              <a:lnSpc>
                <a:spcPct val="90000"/>
              </a:lnSpc>
              <a:spcBef>
                <a:spcPct val="0"/>
              </a:spcBef>
            </a:pPr>
            <a:endParaRPr lang="en-US" sz="4000" dirty="0">
              <a:solidFill>
                <a:srgbClr val="00B050"/>
              </a:solidFill>
              <a:latin typeface="Arial Rounded MT Bold"/>
            </a:endParaRPr>
          </a:p>
        </p:txBody>
      </p:sp>
      <p:sp>
        <p:nvSpPr>
          <p:cNvPr id="3" name="Title 1">
            <a:extLst>
              <a:ext uri="{64856C8F-7DB4-4507-9010-97CF4AE55C3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2140DA9-F832-465D-86DE-FEB6803F3756}"/>
              </a:ext>
            </a:extLst>
          </p:cNvPr>
          <p:cNvSpPr txBox="1"/>
          <p:nvPr/>
        </p:nvSpPr>
        <p:spPr>
          <a:xfrm>
            <a:off x="152400" y="2553657"/>
            <a:ext cx="10696612" cy="936104"/>
          </a:xfrm>
          <a:prstGeom prst="rect">
            <a:avLst/>
          </a:prstGeom>
        </p:spPr>
        <p:txBody>
          <a:bodyPr vert="horz" lIns="91440" tIns="45720" rIns="91440" bIns="45720" rtlCol="0" anchor="b">
            <a:noAutofit/>
          </a:bodyPr>
          <a:lstStyle/>
          <a:p>
            <a:pPr lvl="0" algn="ctr">
              <a:lnSpc>
                <a:spcPct val="90000"/>
              </a:lnSpc>
              <a:spcBef>
                <a:spcPct val="0"/>
              </a:spcBef>
            </a:pPr>
            <a:r>
              <a:rPr lang="en-GB" sz="4000" dirty="0">
                <a:solidFill>
                  <a:srgbClr val="0000FF"/>
                </a:solidFill>
                <a:latin typeface="Aharoni" panose="02010803020104030203" pitchFamily="2" charset="-79"/>
                <a:cs typeface="Aharoni" panose="02010803020104030203" pitchFamily="2" charset="-79"/>
              </a:rPr>
              <a:t>        Employee Payroll System</a:t>
            </a:r>
          </a:p>
          <a:p>
            <a:pPr lvl="0" algn="ctr">
              <a:lnSpc>
                <a:spcPct val="90000"/>
              </a:lnSpc>
              <a:spcBef>
                <a:spcPct val="0"/>
              </a:spcBef>
            </a:pPr>
            <a:endParaRPr lang="en-IN" sz="2800" dirty="0">
              <a:solidFill>
                <a:srgbClr val="C00000"/>
              </a:solidFill>
            </a:endParaRPr>
          </a:p>
          <a:p>
            <a:pPr lvl="0" algn="ctr">
              <a:lnSpc>
                <a:spcPct val="90000"/>
              </a:lnSpc>
              <a:spcBef>
                <a:spcPct val="0"/>
              </a:spcBef>
            </a:pPr>
            <a:endParaRPr lang="en-US" sz="2800" dirty="0">
              <a:solidFill>
                <a:srgbClr val="C00000"/>
              </a:solidFill>
              <a:latin typeface="Aharoni" panose="02010803020104030203" pitchFamily="2" charset="-79"/>
              <a:cs typeface="Aharoni" panose="02010803020104030203" pitchFamily="2" charset="-79"/>
            </a:endParaRPr>
          </a:p>
        </p:txBody>
      </p:sp>
      <p:sp>
        <p:nvSpPr>
          <p:cNvPr id="4" name="Title 1">
            <a:extLst>
              <a:ext uri="{FF2B5EF4-FFF2-40B4-BE49-F238E27FC236}">
                <a16:creationId xmlns:a16="http://schemas.microsoft.com/office/drawing/2014/main" id="{BB2A8C70-3A77-94EC-FC3D-FDF5B598157E}"/>
              </a:ext>
              <a:ext uri="{20663F85-F48B-43E1-96BA-3B1BE53937F7}">
                <a16:creationId xmlns:lc="http://schemas.openxmlformats.org/drawingml/2006/lockedCanvas"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82DE41-6288-42A5-A437-B3C890B5FD67}"/>
              </a:ext>
            </a:extLst>
          </p:cNvPr>
          <p:cNvSpPr txBox="1"/>
          <p:nvPr/>
        </p:nvSpPr>
        <p:spPr>
          <a:xfrm>
            <a:off x="870620" y="2850846"/>
            <a:ext cx="10696612" cy="2070254"/>
          </a:xfrm>
          <a:prstGeom prst="rect">
            <a:avLst/>
          </a:prstGeom>
        </p:spPr>
        <p:txBody>
          <a:bodyPr vert="horz" lIns="91440" tIns="45720" rIns="91440" bIns="45720" rtlCol="0" anchor="b">
            <a:noAutofit/>
          </a:bodyPr>
          <a:ls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a:lstStyle>
          <a:p>
            <a:pPr lvl="0">
              <a:lnSpc>
                <a:spcPct val="90000"/>
              </a:lnSpc>
              <a:spcBef>
                <a:spcPct val="0"/>
              </a:spcBef>
            </a:pPr>
            <a:r>
              <a:rPr lang="en-US" sz="3200" dirty="0">
                <a:solidFill>
                  <a:srgbClr val="FF0000"/>
                </a:solidFill>
                <a:latin typeface="Times New Roman" panose="02020603050405020304" pitchFamily="18" charset="0"/>
                <a:cs typeface="Times New Roman" panose="02020603050405020304" pitchFamily="18" charset="0"/>
              </a:rPr>
              <a:t>Course Instructor:                              Presented by:</a:t>
            </a:r>
          </a:p>
          <a:p>
            <a:pPr lvl="0">
              <a:lnSpc>
                <a:spcPct val="90000"/>
              </a:lnSpc>
              <a:spcBef>
                <a:spcPct val="0"/>
              </a:spcBef>
            </a:pPr>
            <a:r>
              <a:rPr lang="en-US" dirty="0">
                <a:solidFill>
                  <a:srgbClr val="0000FF"/>
                </a:solidFill>
                <a:latin typeface="Times New Roman" panose="02020603050405020304" pitchFamily="18" charset="0"/>
                <a:cs typeface="Times New Roman" panose="02020603050405020304" pitchFamily="18" charset="0"/>
              </a:rPr>
              <a:t>N.AKHILA, </a:t>
            </a:r>
            <a:r>
              <a:rPr lang="en-US" dirty="0" err="1">
                <a:solidFill>
                  <a:srgbClr val="0000FF"/>
                </a:solidFill>
                <a:latin typeface="Times New Roman" panose="02020603050405020304" pitchFamily="18" charset="0"/>
                <a:cs typeface="Times New Roman" panose="02020603050405020304" pitchFamily="18" charset="0"/>
              </a:rPr>
              <a:t>M.Tech</a:t>
            </a:r>
            <a:r>
              <a:rPr lang="en-US" dirty="0">
                <a:solidFill>
                  <a:srgbClr val="0000FF"/>
                </a:solidFill>
                <a:latin typeface="Times New Roman" panose="02020603050405020304" pitchFamily="18" charset="0"/>
                <a:cs typeface="Times New Roman" panose="02020603050405020304" pitchFamily="18" charset="0"/>
              </a:rPr>
              <a:t> (</a:t>
            </a:r>
            <a:r>
              <a:rPr lang="en-US" dirty="0" err="1">
                <a:solidFill>
                  <a:srgbClr val="0000FF"/>
                </a:solidFill>
                <a:latin typeface="Times New Roman" panose="02020603050405020304" pitchFamily="18" charset="0"/>
                <a:cs typeface="Times New Roman" panose="02020603050405020304" pitchFamily="18" charset="0"/>
              </a:rPr>
              <a:t>Ph.D</a:t>
            </a:r>
            <a:r>
              <a:rPr lang="en-US" dirty="0">
                <a:solidFill>
                  <a:srgbClr val="0000FF"/>
                </a:solidFill>
                <a:latin typeface="Times New Roman" panose="02020603050405020304" pitchFamily="18" charset="0"/>
                <a:cs typeface="Times New Roman" panose="02020603050405020304" pitchFamily="18" charset="0"/>
              </a:rPr>
              <a:t>),</a:t>
            </a:r>
            <a:r>
              <a:rPr lang="en-US" sz="3600" b="1" dirty="0">
                <a:solidFill>
                  <a:srgbClr val="0000FF"/>
                </a:solidFill>
                <a:latin typeface="Times New Roman" panose="02020603050405020304" pitchFamily="18" charset="0"/>
                <a:cs typeface="Times New Roman" panose="02020603050405020304" pitchFamily="18" charset="0"/>
              </a:rPr>
              <a:t>	                               			</a:t>
            </a:r>
          </a:p>
          <a:p>
            <a:pPr lvl="0">
              <a:lnSpc>
                <a:spcPct val="90000"/>
              </a:lnSpc>
              <a:spcBef>
                <a:spcPct val="0"/>
              </a:spcBef>
            </a:pPr>
            <a:r>
              <a:rPr lang="en-US" dirty="0">
                <a:solidFill>
                  <a:srgbClr val="0000FF"/>
                </a:solidFill>
                <a:latin typeface="Times New Roman" panose="02020603050405020304" pitchFamily="18" charset="0"/>
                <a:cs typeface="Times New Roman" panose="02020603050405020304" pitchFamily="18" charset="0"/>
              </a:rPr>
              <a:t>ASSISTANT PROFESSOR, </a:t>
            </a:r>
            <a:endParaRPr lang="en-US" sz="3600" dirty="0">
              <a:solidFill>
                <a:srgbClr val="0000FF"/>
              </a:solidFill>
              <a:latin typeface="Times New Roman" panose="02020603050405020304" pitchFamily="18" charset="0"/>
              <a:cs typeface="Times New Roman" panose="02020603050405020304" pitchFamily="18" charset="0"/>
            </a:endParaRPr>
          </a:p>
          <a:p>
            <a:pPr lvl="0">
              <a:lnSpc>
                <a:spcPct val="90000"/>
              </a:lnSpc>
              <a:spcBef>
                <a:spcPct val="0"/>
              </a:spcBef>
            </a:pPr>
            <a:r>
              <a:rPr lang="en-US" dirty="0">
                <a:solidFill>
                  <a:srgbClr val="0000FF"/>
                </a:solidFill>
                <a:latin typeface="Times New Roman" panose="02020603050405020304" pitchFamily="18" charset="0"/>
                <a:cs typeface="Times New Roman" panose="02020603050405020304" pitchFamily="18" charset="0"/>
              </a:rPr>
              <a:t>AIML DEPTARTMENT</a:t>
            </a:r>
          </a:p>
        </p:txBody>
      </p:sp>
      <p:graphicFrame>
        <p:nvGraphicFramePr>
          <p:cNvPr id="6" name="Table 5">
            <a:extLst>
              <a:ext uri="{FF2B5EF4-FFF2-40B4-BE49-F238E27FC236}">
                <a16:creationId xmlns:a16="http://schemas.microsoft.com/office/drawing/2014/main" id="{C7F159A1-205A-9A84-5F29-BAC09BFFE55A}"/>
              </a:ext>
            </a:extLst>
          </p:cNvPr>
          <p:cNvGraphicFramePr>
            <a:graphicFrameLocks noGrp="1"/>
          </p:cNvGraphicFramePr>
          <p:nvPr>
            <p:extLst>
              <p:ext uri="{D42A27DB-BD31-4B8C-83A1-F6EECF244321}">
                <p14:modId xmlns:p14="http://schemas.microsoft.com/office/powerpoint/2010/main" val="500672912"/>
              </p:ext>
            </p:extLst>
          </p:nvPr>
        </p:nvGraphicFramePr>
        <p:xfrm>
          <a:off x="6824452" y="3938129"/>
          <a:ext cx="4927600" cy="1280160"/>
        </p:xfrm>
        <a:graphic>
          <a:graphicData uri="http://schemas.openxmlformats.org/drawingml/2006/table">
            <a:tbl>
              <a:tblPr>
                <a:tableStyleId>{2D5ABB26-0587-4C30-8999-92F81FD0307C}</a:tableStyleId>
              </a:tblPr>
              <a:tblGrid>
                <a:gridCol w="1465244">
                  <a:extLst>
                    <a:ext uri="{9D8B030D-6E8A-4147-A177-3AD203B41FA5}">
                      <a16:colId xmlns:a16="http://schemas.microsoft.com/office/drawing/2014/main" val="4008646060"/>
                    </a:ext>
                  </a:extLst>
                </a:gridCol>
                <a:gridCol w="3462356">
                  <a:extLst>
                    <a:ext uri="{9D8B030D-6E8A-4147-A177-3AD203B41FA5}">
                      <a16:colId xmlns:a16="http://schemas.microsoft.com/office/drawing/2014/main" val="4177372121"/>
                    </a:ext>
                  </a:extLst>
                </a:gridCol>
              </a:tblGrid>
              <a:tr h="320040">
                <a:tc>
                  <a:txBody>
                    <a:bodyPr/>
                    <a:lstStyle/>
                    <a:p>
                      <a:pPr algn="ctr"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25B11AIB60</a:t>
                      </a:r>
                    </a:p>
                  </a:txBody>
                  <a:tcPr marL="6350" marR="6350" marT="6350" anchor="ctr"/>
                </a:tc>
                <a:tc>
                  <a:txBody>
                    <a:bodyPr/>
                    <a:lstStyle/>
                    <a:p>
                      <a:pPr algn="l"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SAILA HARSHITH</a:t>
                      </a:r>
                    </a:p>
                  </a:txBody>
                  <a:tcPr marL="6350" marR="6350" marT="6350" anchor="ctr"/>
                </a:tc>
                <a:extLst>
                  <a:ext uri="{0D108BD9-81ED-4DB2-BD59-A6C34878D82A}">
                    <a16:rowId xmlns:a16="http://schemas.microsoft.com/office/drawing/2014/main" val="4029920218"/>
                  </a:ext>
                </a:extLst>
              </a:tr>
              <a:tr h="320040">
                <a:tc>
                  <a:txBody>
                    <a:bodyPr/>
                    <a:lstStyle/>
                    <a:p>
                      <a:pPr algn="ctr"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25B11AI230</a:t>
                      </a:r>
                    </a:p>
                  </a:txBody>
                  <a:tcPr marL="6350" marR="6350" marT="6350" anchor="ctr"/>
                </a:tc>
                <a:tc>
                  <a:txBody>
                    <a:bodyPr/>
                    <a:lstStyle/>
                    <a:p>
                      <a:pPr algn="l"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CHITTURI DEVI SRI PRASAD</a:t>
                      </a:r>
                    </a:p>
                  </a:txBody>
                  <a:tcPr marL="6350" marR="6350" marT="6350" anchor="ctr"/>
                </a:tc>
                <a:extLst>
                  <a:ext uri="{0D108BD9-81ED-4DB2-BD59-A6C34878D82A}">
                    <a16:rowId xmlns:a16="http://schemas.microsoft.com/office/drawing/2014/main" val="2060361553"/>
                  </a:ext>
                </a:extLst>
              </a:tr>
              <a:tr h="320040">
                <a:tc>
                  <a:txBody>
                    <a:bodyPr/>
                    <a:lstStyle/>
                    <a:p>
                      <a:pPr algn="ctr"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25B11AI963</a:t>
                      </a:r>
                    </a:p>
                  </a:txBody>
                  <a:tcPr marL="6350" marR="6350" marT="6350" anchor="ctr"/>
                </a:tc>
                <a:tc>
                  <a:txBody>
                    <a:bodyPr/>
                    <a:lstStyle/>
                    <a:p>
                      <a:pPr algn="l"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PITHANI BHARATH MAHESH</a:t>
                      </a:r>
                    </a:p>
                  </a:txBody>
                  <a:tcPr marL="6350" marR="6350" marT="6350" anchor="ctr"/>
                </a:tc>
                <a:extLst>
                  <a:ext uri="{0D108BD9-81ED-4DB2-BD59-A6C34878D82A}">
                    <a16:rowId xmlns:a16="http://schemas.microsoft.com/office/drawing/2014/main" val="2251409142"/>
                  </a:ext>
                </a:extLst>
              </a:tr>
              <a:tr h="320040">
                <a:tc>
                  <a:txBody>
                    <a:bodyPr/>
                    <a:lstStyle/>
                    <a:p>
                      <a:pPr algn="ctr"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26B21AI045</a:t>
                      </a:r>
                    </a:p>
                  </a:txBody>
                  <a:tcPr marL="6350" marR="6350" marT="6350" anchor="ctr"/>
                </a:tc>
                <a:tc>
                  <a:txBody>
                    <a:bodyPr/>
                    <a:lstStyle/>
                    <a:p>
                      <a:pPr algn="l"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INNAMURI KARTHIK</a:t>
                      </a:r>
                    </a:p>
                  </a:txBody>
                  <a:tcPr marL="6350" marR="6350" marT="6350" anchor="ctr"/>
                </a:tc>
                <a:extLst>
                  <a:ext uri="{0D108BD9-81ED-4DB2-BD59-A6C34878D82A}">
                    <a16:rowId xmlns:a16="http://schemas.microsoft.com/office/drawing/2014/main" val="3846112601"/>
                  </a:ext>
                </a:extLst>
              </a:tr>
            </a:tbl>
          </a:graphicData>
        </a:graphic>
      </p:graphicFrame>
    </p:spTree>
    <p:extLst>
      <p:ext uri="{59DB2955-81A9-4330-9517-4CB607EFC6F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842627" y="1547355"/>
            <a:ext cx="3810000" cy="4876800"/>
          </a:xfrm>
        </p:spPr>
        <p:txBody>
          <a:bodyPr>
            <a:noAutofit/>
          </a:bodyPr>
          <a:lstStyle/>
          <a:p>
            <a:pPr marL="914400" lvl="0" indent="-45720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Abstract                                                                                </a:t>
            </a:r>
          </a:p>
          <a:p>
            <a:pPr marL="914400" lvl="0" indent="-45720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Problem Statement &amp; Objectives                           </a:t>
            </a:r>
          </a:p>
          <a:p>
            <a:pPr marL="914400" lvl="0" indent="-45720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Planned Modules / Functions </a:t>
            </a:r>
          </a:p>
          <a:p>
            <a:pPr marL="914400" lvl="0" indent="-45720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Users of the system </a:t>
            </a:r>
          </a:p>
          <a:p>
            <a:pPr marL="914400" lvl="0" indent="-45720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Algorithm</a:t>
            </a:r>
          </a:p>
          <a:p>
            <a:pPr marL="914400" lvl="0" indent="-45720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Flowchart</a:t>
            </a: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fld id="{A4A026F9-4B12-44A3-954F-2C895BB9BCAE}" type="datetime1">
              <a:rPr lang="en-US" smtClean="0"/>
              <a:t>9/29/2026</a:t>
            </a:fld>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dirty="0"/>
              <a:t>PBL Course Name: Object Oriented Programming through C++(2501CS08)     REVIEW-2</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2</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3886200" y="433845"/>
            <a:ext cx="5223386" cy="661720"/>
          </a:xfrm>
          <a:prstGeom prst="rect">
            <a:avLst/>
          </a:prstGeom>
          <a:noFill/>
        </p:spPr>
        <p:txBody>
          <a:bodyPr wrap="square">
            <a:spAutoFit/>
          </a:bodyPr>
          <a:lstStyle/>
          <a:p>
            <a:pPr lvl="0" algn="ctr">
              <a:lnSpc>
                <a:spcPct val="90000"/>
              </a:lnSpc>
              <a:spcBef>
                <a:spcPct val="0"/>
              </a:spcBef>
            </a:pPr>
            <a:r>
              <a:rPr lang="en-GB" sz="4000" dirty="0">
                <a:solidFill>
                  <a:srgbClr val="0000FF"/>
                </a:solidFill>
                <a:latin typeface="Maiandra GD" panose="020E0502030308020204" pitchFamily="34" charset="0"/>
                <a:cs typeface="Aharoni" panose="02010803020104030203" pitchFamily="2" charset="-79"/>
              </a:rPr>
              <a:t>Contents</a:t>
            </a:r>
          </a:p>
        </p:txBody>
      </p:sp>
      <p:sp>
        <p:nvSpPr>
          <p:cNvPr id="6" name="TextBox 5">
            <a:extLst>
              <a:ext uri="{FF2B5EF4-FFF2-40B4-BE49-F238E27FC236}">
                <a16:creationId xmlns:a16="http://schemas.microsoft.com/office/drawing/2014/main" id="{012BF512-3FD3-B206-D785-0FD7E12324D2}"/>
              </a:ext>
            </a:extLst>
          </p:cNvPr>
          <p:cNvSpPr txBox="1"/>
          <p:nvPr/>
        </p:nvSpPr>
        <p:spPr>
          <a:xfrm>
            <a:off x="6324600" y="1447800"/>
            <a:ext cx="4191000" cy="3693319"/>
          </a:xfrm>
          <a:prstGeom prst="rect">
            <a:avLst/>
          </a:prstGeom>
          <a:noFill/>
        </p:spPr>
        <p:txBody>
          <a:bodyPr wrap="square" rtlCol="0">
            <a:spAutoFit/>
          </a:bodyPr>
          <a:lstStyle/>
          <a:p>
            <a:pPr marL="914400" lvl="0" indent="-457200">
              <a:lnSpc>
                <a:spcPct val="2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Modules/Functionalities</a:t>
            </a:r>
          </a:p>
          <a:p>
            <a:pPr marL="914400" lvl="0" indent="-457200">
              <a:lnSpc>
                <a:spcPct val="2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Future Enhancements</a:t>
            </a:r>
          </a:p>
          <a:p>
            <a:pPr marL="914400" lvl="0" indent="-457200">
              <a:lnSpc>
                <a:spcPct val="2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Architecture Diagram</a:t>
            </a:r>
          </a:p>
          <a:p>
            <a:pPr marL="914400" lvl="0" indent="-45720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ER Diagram / DFD</a:t>
            </a:r>
          </a:p>
          <a:p>
            <a:pPr marL="914400" lvl="0" indent="-45720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Planning and Timeline Diagram</a:t>
            </a:r>
          </a:p>
          <a:p>
            <a:pPr marL="914400" lvl="0" indent="-45720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Role of each individual</a:t>
            </a:r>
          </a:p>
          <a:p>
            <a:endParaRPr lang="en-US" dirty="0"/>
          </a:p>
        </p:txBody>
      </p:sp>
    </p:spTree>
    <p:extLst>
      <p:ext uri="{BB962C8B-B14F-4D97-AF65-F5344CB8AC3E}">
        <p14:creationId xmlns:p14="http://schemas.microsoft.com/office/powerpoint/2010/main" val="1780977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765969" y="1055057"/>
            <a:ext cx="10515600" cy="5029200"/>
          </a:xfrm>
        </p:spPr>
        <p:txBody>
          <a:bodyPr>
            <a:normAutofit fontScale="92500" lnSpcReduction="10000"/>
          </a:bodyPr>
          <a:lstStyle/>
          <a:p>
            <a:pPr algn="just">
              <a:lnSpc>
                <a:spcPct val="100000"/>
              </a:lnSpc>
            </a:pPr>
            <a:endParaRPr lang="en-US" dirty="0">
              <a:latin typeface="Times New Roman" panose="02020603050405020304" pitchFamily="18" charset="0"/>
              <a:cs typeface="Times New Roman" panose="02020603050405020304" pitchFamily="18" charset="0"/>
            </a:endParaRPr>
          </a:p>
          <a:p>
            <a:pPr algn="just">
              <a:lnSpc>
                <a:spcPct val="100000"/>
              </a:lnSpc>
            </a:pPr>
            <a:r>
              <a:rPr lang="en-US" dirty="0">
                <a:latin typeface="Times New Roman" panose="02020603050405020304" pitchFamily="18" charset="0"/>
                <a:cs typeface="Times New Roman" panose="02020603050405020304" pitchFamily="18" charset="0"/>
              </a:rPr>
              <a:t>The Employee Payroll System is a software application designed to automate and simplify the process of managing employee salaries and payroll information. The system maintains employee details such as employee ID, name, department, designation, basic salary, allowances, deductions, and net salary. It calculates salaries accurately by considering working days, overtime, bonuses, taxes, and other deductions. The system reduces manual calculations, minimizes errors, saves time, and provides easy access to payroll records. It can also generate salary slips and payroll reports for employees and management. </a:t>
            </a:r>
          </a:p>
          <a:p>
            <a:pPr algn="just">
              <a:lnSpc>
                <a:spcPct val="100000"/>
              </a:lnSpc>
            </a:pPr>
            <a:r>
              <a:rPr lang="en-US" dirty="0">
                <a:latin typeface="Times New Roman" panose="02020603050405020304" pitchFamily="18" charset="0"/>
                <a:cs typeface="Times New Roman" panose="02020603050405020304" pitchFamily="18" charset="0"/>
              </a:rPr>
              <a:t>The employee payroll system provides an efficient, accurate, secure, and organized solution for managing an organization's payroll activities.</a:t>
            </a:r>
          </a:p>
          <a:p>
            <a:pPr algn="just">
              <a:lnSpc>
                <a:spcPct val="100000"/>
              </a:lnSpc>
            </a:pPr>
            <a:endParaRPr lang="en-IN"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a:xfrm>
            <a:off x="695400" y="6278769"/>
            <a:ext cx="1656183" cy="365125"/>
          </a:xfrm>
        </p:spPr>
        <p:txBody>
          <a:bodyPr/>
          <a:lstStyle/>
          <a:p>
            <a:fld id="{A4A026F9-4B12-44A3-954F-2C895BB9BCAE}" type="datetime1">
              <a:rPr lang="en-US" smtClean="0"/>
              <a:pPr/>
              <a:t>9/29/2026</a:t>
            </a:fld>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a:xfrm>
            <a:off x="2567608" y="6278771"/>
            <a:ext cx="6912768" cy="365125"/>
          </a:xfrm>
        </p:spPr>
        <p:txBody>
          <a:bodyPr/>
          <a:lstStyle/>
          <a:p>
            <a:r>
              <a:rPr lang="en-US" dirty="0"/>
              <a:t>PBL Course Name: Object Oriented Programming through C++(2501CS08)     REVIEW-2</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a:xfrm>
            <a:off x="10272464" y="6356350"/>
            <a:ext cx="1081336" cy="365125"/>
          </a:xfrm>
        </p:spPr>
        <p:txBody>
          <a:bodyPr/>
          <a:lstStyle/>
          <a:p>
            <a:fld id="{9359D16F-76A5-41BA-ADDD-CBF352B33DDD}" type="slidenum">
              <a:rPr lang="en-IN" smtClean="0"/>
              <a:pPr/>
              <a:t>3</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3886200" y="433845"/>
            <a:ext cx="5223386" cy="661720"/>
          </a:xfrm>
          <a:prstGeom prst="rect">
            <a:avLst/>
          </a:prstGeom>
          <a:noFill/>
        </p:spPr>
        <p:txBody>
          <a:bodyPr wrap="square">
            <a:spAutoFit/>
          </a:bodyPr>
          <a:lstStyle/>
          <a:p>
            <a:pPr lvl="0" algn="ctr">
              <a:lnSpc>
                <a:spcPct val="90000"/>
              </a:lnSpc>
              <a:spcBef>
                <a:spcPct val="0"/>
              </a:spcBef>
            </a:pPr>
            <a:r>
              <a:rPr lang="en-GB" sz="4000" dirty="0">
                <a:solidFill>
                  <a:srgbClr val="0000FF"/>
                </a:solidFill>
                <a:latin typeface="Maiandra GD" panose="020E0502030308020204" pitchFamily="34" charset="0"/>
                <a:cs typeface="Aharoni" panose="02010803020104030203" pitchFamily="2" charset="-79"/>
              </a:rPr>
              <a:t> Abstract</a:t>
            </a:r>
          </a:p>
        </p:txBody>
      </p:sp>
    </p:spTree>
    <p:extLst>
      <p:ext uri="{BB962C8B-B14F-4D97-AF65-F5344CB8AC3E}">
        <p14:creationId xmlns:p14="http://schemas.microsoft.com/office/powerpoint/2010/main" val="1780977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1066800" y="1239116"/>
            <a:ext cx="10515600" cy="4973683"/>
          </a:xfrm>
        </p:spPr>
        <p:txBody>
          <a:bodyPr>
            <a:no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Problem Statement</a:t>
            </a:r>
          </a:p>
          <a:p>
            <a:pPr marL="914400" lvl="0" indent="-4572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Errors in attendance and salary records.</a:t>
            </a:r>
          </a:p>
          <a:p>
            <a:pPr marL="914400" lvl="0" indent="-4572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Difficulties in managing employee information. </a:t>
            </a:r>
          </a:p>
          <a:p>
            <a:pPr marL="914400" lvl="0" indent="-4572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Time-consuming preparation of salary slips .</a:t>
            </a:r>
          </a:p>
          <a:p>
            <a:pPr marL="914400" lvl="0" indent="-4572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Difficulty tracking deductions and allowances.</a:t>
            </a:r>
            <a:endParaRPr lang="en-IN" sz="2000" b="0" dirty="0">
              <a:latin typeface="Times New Roman" panose="02020603050405020304" pitchFamily="18" charset="0"/>
              <a:cs typeface="Times New Roman" panose="02020603050405020304" pitchFamily="18" charset="0"/>
            </a:endParaRPr>
          </a:p>
          <a:p>
            <a:pPr algn="just">
              <a:lnSpc>
                <a:spcPct val="150000"/>
              </a:lnSpc>
            </a:pPr>
            <a:r>
              <a:rPr lang="en-IN" sz="2000" b="1" dirty="0">
                <a:latin typeface="Times New Roman" panose="02020603050405020304" pitchFamily="18" charset="0"/>
                <a:cs typeface="Times New Roman" panose="02020603050405020304" pitchFamily="18" charset="0"/>
              </a:rPr>
              <a:t>Objectives</a:t>
            </a:r>
          </a:p>
          <a:p>
            <a:pPr marL="800100" lvl="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Maintain employee information. </a:t>
            </a:r>
          </a:p>
          <a:p>
            <a:pPr marL="800100" lvl="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Manage attendance and leave records. </a:t>
            </a:r>
          </a:p>
          <a:p>
            <a:pPr marL="800100" lvl="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Calculate allowances and deductions. </a:t>
            </a:r>
          </a:p>
          <a:p>
            <a:pPr marL="800100" lvl="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Maintain accurate payroll records. </a:t>
            </a:r>
          </a:p>
          <a:p>
            <a:pPr marL="800100" lvl="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Reduce manual work and calculation errors.</a:t>
            </a:r>
          </a:p>
          <a:p>
            <a:pPr marL="457200" lvl="1" algn="just">
              <a:lnSpc>
                <a:spcPct val="150000"/>
              </a:lnSpc>
            </a:pPr>
            <a:endParaRPr lang="en-IN" sz="2000"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fld id="{A4A026F9-4B12-44A3-954F-2C895BB9BCAE}" type="datetime1">
              <a:rPr lang="en-US" smtClean="0"/>
              <a:t>9/29/2026</a:t>
            </a:fld>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dirty="0"/>
              <a:t>PBL Course Name: Object Oriented Programming through C++(2501CS08)     REVIEW-2</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4</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661720"/>
          </a:xfrm>
          <a:prstGeom prst="rect">
            <a:avLst/>
          </a:prstGeom>
          <a:noFill/>
        </p:spPr>
        <p:txBody>
          <a:bodyPr wrap="square">
            <a:spAutoFit/>
          </a:bodyPr>
          <a:lstStyle/>
          <a:p>
            <a:pPr lvl="0" algn="ctr">
              <a:lnSpc>
                <a:spcPct val="90000"/>
              </a:lnSpc>
              <a:spcBef>
                <a:spcPct val="0"/>
              </a:spcBef>
            </a:pPr>
            <a:r>
              <a:rPr lang="en-GB" sz="3200" dirty="0">
                <a:solidFill>
                  <a:srgbClr val="0000FF"/>
                </a:solidFill>
                <a:latin typeface="Maiandra GD" panose="020E0502030308020204" pitchFamily="34" charset="0"/>
                <a:cs typeface="Aharoni" panose="02010803020104030203" pitchFamily="2" charset="-79"/>
              </a:rPr>
              <a:t>Problem Statement &amp; Objectives</a:t>
            </a:r>
          </a:p>
        </p:txBody>
      </p:sp>
    </p:spTree>
    <p:extLst>
      <p:ext uri="{BB962C8B-B14F-4D97-AF65-F5344CB8AC3E}">
        <p14:creationId xmlns:p14="http://schemas.microsoft.com/office/powerpoint/2010/main" val="1780977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838200" y="1295400"/>
            <a:ext cx="10515600" cy="4572000"/>
          </a:xfrm>
        </p:spPr>
        <p:txBody>
          <a:bodyPr>
            <a:noAutofit/>
          </a:bodyPr>
          <a:lstStyle/>
          <a:p>
            <a:pPr marL="9144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Employee Management Module – create, update, and delete                               employee  records</a:t>
            </a:r>
          </a:p>
          <a:p>
            <a:pPr marL="9144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Attendance Management Module – record employee attendance, working hours, and leave</a:t>
            </a:r>
          </a:p>
          <a:p>
            <a:pPr marL="9144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Salary Management Module – calculate basic salary, allowances, deductions, and net salary</a:t>
            </a:r>
          </a:p>
          <a:p>
            <a:pPr marL="9144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Payroll Processing Module – process monthly payroll and generate salary details</a:t>
            </a:r>
          </a:p>
          <a:p>
            <a:pPr marL="9144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Salary Slip Module – generate and provide employee salary slips</a:t>
            </a:r>
          </a:p>
          <a:p>
            <a:pPr marL="9144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Report Generation Module – generate payroll, salary, attendance, and employee reports</a:t>
            </a:r>
          </a:p>
          <a:p>
            <a:pPr marL="914400" indent="-457200" algn="just">
              <a:lnSpc>
                <a:spcPct val="150000"/>
              </a:lnSpc>
              <a:buFont typeface="Wingdings" panose="05000000000000000000" pitchFamily="2" charset="2"/>
              <a:buChar char="Ø"/>
            </a:pPr>
            <a:endParaRPr lang="en-IN" sz="2400"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fld id="{A4A026F9-4B12-44A3-954F-2C895BB9BCAE}" type="datetime1">
              <a:rPr lang="en-US" smtClean="0"/>
              <a:t>9/29/2026</a:t>
            </a:fld>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dirty="0"/>
              <a:t>PBL Course Name: Object Oriented Programming through C++(2501CS08)     REVIEW-2</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5</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661720"/>
          </a:xfrm>
          <a:prstGeom prst="rect">
            <a:avLst/>
          </a:prstGeom>
          <a:noFill/>
        </p:spPr>
        <p:txBody>
          <a:bodyPr wrap="square">
            <a:spAutoFit/>
          </a:bodyPr>
          <a:lstStyle/>
          <a:p>
            <a:pPr lvl="0" algn="ctr">
              <a:lnSpc>
                <a:spcPct val="90000"/>
              </a:lnSpc>
              <a:spcBef>
                <a:spcPct val="0"/>
              </a:spcBef>
            </a:pPr>
            <a:r>
              <a:rPr lang="en-GB" sz="3200" dirty="0">
                <a:solidFill>
                  <a:srgbClr val="0000FF"/>
                </a:solidFill>
                <a:latin typeface="Maiandra GD" panose="020E0502030308020204" pitchFamily="34" charset="0"/>
                <a:cs typeface="Aharoni" panose="02010803020104030203" pitchFamily="2" charset="-79"/>
              </a:rPr>
              <a:t>Planned Modules / Functions</a:t>
            </a:r>
          </a:p>
        </p:txBody>
      </p:sp>
    </p:spTree>
    <p:extLst>
      <p:ext uri="{BB962C8B-B14F-4D97-AF65-F5344CB8AC3E}">
        <p14:creationId xmlns:p14="http://schemas.microsoft.com/office/powerpoint/2010/main" val="1780977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p:txBody>
          <a:bodyPr>
            <a:normAutofit/>
          </a:bodyPr>
          <a:lstStyle/>
          <a:p>
            <a:pPr marL="8001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Admin – manages employee records, attendance, salary details, and payroll processing</a:t>
            </a:r>
          </a:p>
          <a:p>
            <a:pPr marL="8001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Payroll Manager – calculates salaries, allowances, deductions, and generates payroll</a:t>
            </a:r>
          </a:p>
          <a:p>
            <a:pPr marL="8001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Employees – view personal details, attendance, salary information, and salary slips</a:t>
            </a:r>
          </a:p>
          <a:p>
            <a:pPr marL="8001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Department Manager – monitors employee attendance, leave, and department records</a:t>
            </a:r>
          </a:p>
          <a:p>
            <a:pPr marL="8001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System Administrator – manages user accounts, system settings, and database records</a:t>
            </a:r>
          </a:p>
          <a:p>
            <a:pPr marL="914400" indent="-457200" algn="just">
              <a:lnSpc>
                <a:spcPct val="150000"/>
              </a:lnSpc>
              <a:buFont typeface="Wingdings" panose="05000000000000000000" pitchFamily="2" charset="2"/>
              <a:buChar char="Ø"/>
            </a:pPr>
            <a:endParaRPr lang="en-IN" sz="2400"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fld id="{A4A026F9-4B12-44A3-954F-2C895BB9BCAE}" type="datetime1">
              <a:rPr lang="en-US" smtClean="0"/>
              <a:t>9/29/2026</a:t>
            </a:fld>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dirty="0"/>
              <a:t>PBL Course Name: Object Oriented Programming through C++(2501CS08)     REVIEW-2</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6</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661720"/>
          </a:xfrm>
          <a:prstGeom prst="rect">
            <a:avLst/>
          </a:prstGeom>
          <a:noFill/>
        </p:spPr>
        <p:txBody>
          <a:bodyPr wrap="square">
            <a:spAutoFit/>
          </a:bodyPr>
          <a:lstStyle/>
          <a:p>
            <a:pPr lvl="0" algn="ctr">
              <a:lnSpc>
                <a:spcPct val="90000"/>
              </a:lnSpc>
              <a:spcBef>
                <a:spcPct val="0"/>
              </a:spcBef>
            </a:pPr>
            <a:r>
              <a:rPr lang="en-GB" sz="3200" dirty="0">
                <a:solidFill>
                  <a:srgbClr val="0000FF"/>
                </a:solidFill>
                <a:latin typeface="Maiandra GD" panose="020E0502030308020204" pitchFamily="34" charset="0"/>
                <a:cs typeface="Aharoni" panose="02010803020104030203" pitchFamily="2" charset="-79"/>
              </a:rPr>
              <a:t>Users of the System</a:t>
            </a:r>
          </a:p>
        </p:txBody>
      </p:sp>
    </p:spTree>
    <p:extLst>
      <p:ext uri="{BB962C8B-B14F-4D97-AF65-F5344CB8AC3E}">
        <p14:creationId xmlns:p14="http://schemas.microsoft.com/office/powerpoint/2010/main" val="1780977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4BE4F-5CE8-5932-95C5-3C4E82659C8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63655A-8C86-4C81-0607-739E6F0CC30B}"/>
              </a:ext>
            </a:extLst>
          </p:cNvPr>
          <p:cNvSpPr>
            <a:spLocks noGrp="1"/>
          </p:cNvSpPr>
          <p:nvPr>
            <p:ph/>
          </p:nvPr>
        </p:nvSpPr>
        <p:spPr>
          <a:xfrm>
            <a:off x="851647" y="1377188"/>
            <a:ext cx="10515600" cy="4531419"/>
          </a:xfrm>
        </p:spPr>
        <p:txBody>
          <a:bodyPr>
            <a:normAutofit fontScale="92500" lnSpcReduction="10000"/>
          </a:bodyPr>
          <a:lstStyle/>
          <a:p>
            <a:pPr algn="just"/>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Step 1</a:t>
            </a:r>
            <a:r>
              <a:rPr lang="en-US" sz="2400" dirty="0">
                <a:latin typeface="Times New Roman" panose="02020603050405020304" pitchFamily="18" charset="0"/>
                <a:cs typeface="Times New Roman" panose="02020603050405020304" pitchFamily="18" charset="0"/>
              </a:rPr>
              <a:t>: Start the application.</a:t>
            </a:r>
          </a:p>
          <a:p>
            <a:pPr algn="just"/>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Step 2</a:t>
            </a:r>
            <a:r>
              <a:rPr lang="en-US" sz="2400" dirty="0">
                <a:latin typeface="Times New Roman" panose="02020603050405020304" pitchFamily="18" charset="0"/>
                <a:cs typeface="Times New Roman" panose="02020603050405020304" pitchFamily="18" charset="0"/>
              </a:rPr>
              <a:t>: Display the main menu.</a:t>
            </a:r>
          </a:p>
          <a:p>
            <a:pPr algn="just"/>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Step 3</a:t>
            </a:r>
            <a:r>
              <a:rPr lang="en-US" sz="2400" dirty="0">
                <a:latin typeface="Times New Roman" panose="02020603050405020304" pitchFamily="18" charset="0"/>
                <a:cs typeface="Times New Roman" panose="02020603050405020304" pitchFamily="18" charset="0"/>
              </a:rPr>
              <a:t>: Accept the user's choice.</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Step 4</a:t>
            </a:r>
            <a:r>
              <a:rPr lang="en-US" sz="2400" dirty="0">
                <a:latin typeface="Times New Roman" panose="02020603050405020304" pitchFamily="18" charset="0"/>
                <a:cs typeface="Times New Roman" panose="02020603050405020304" pitchFamily="18" charset="0"/>
              </a:rPr>
              <a:t>: Enter or retrieve employee information such as Employee ID, Name, </a:t>
            </a:r>
          </a:p>
          <a:p>
            <a:r>
              <a:rPr lang="en-US" sz="2400" dirty="0">
                <a:latin typeface="Times New Roman" panose="02020603050405020304" pitchFamily="18" charset="0"/>
                <a:cs typeface="Times New Roman" panose="02020603050405020304" pitchFamily="18" charset="0"/>
              </a:rPr>
              <a:t>               Department, and Basic Salary.</a:t>
            </a:r>
          </a:p>
          <a:p>
            <a:pPr algn="just"/>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Step 5</a:t>
            </a:r>
            <a:r>
              <a:rPr lang="en-US" sz="2400" dirty="0">
                <a:latin typeface="Times New Roman" panose="02020603050405020304" pitchFamily="18" charset="0"/>
                <a:cs typeface="Times New Roman" panose="02020603050405020304" pitchFamily="18" charset="0"/>
              </a:rPr>
              <a:t>: Enter salary components such as allowances, bonuses, and deductions.</a:t>
            </a:r>
          </a:p>
          <a:p>
            <a:pPr algn="just"/>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Step 6</a:t>
            </a:r>
            <a:r>
              <a:rPr lang="en-US" sz="2400" dirty="0">
                <a:latin typeface="Times New Roman" panose="02020603050405020304" pitchFamily="18" charset="0"/>
                <a:cs typeface="Times New Roman" panose="02020603050405020304" pitchFamily="18" charset="0"/>
              </a:rPr>
              <a:t>: Calculate the Gross Salary.</a:t>
            </a:r>
          </a:p>
          <a:p>
            <a:pPr algn="just"/>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Step 7</a:t>
            </a:r>
            <a:r>
              <a:rPr lang="en-US" sz="2400" dirty="0">
                <a:latin typeface="Times New Roman" panose="02020603050405020304" pitchFamily="18" charset="0"/>
                <a:cs typeface="Times New Roman" panose="02020603050405020304" pitchFamily="18" charset="0"/>
              </a:rPr>
              <a:t>: Calculate the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Net salary.</a:t>
            </a:r>
          </a:p>
          <a:p>
            <a:pPr algn="just"/>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Step 8</a:t>
            </a:r>
            <a:r>
              <a:rPr lang="en-US" sz="2400" dirty="0">
                <a:latin typeface="Times New Roman" panose="02020603050405020304" pitchFamily="18" charset="0"/>
                <a:cs typeface="Times New Roman" panose="02020603050405020304" pitchFamily="18" charset="0"/>
              </a:rPr>
              <a:t>: Store or update the employee payroll details in the database.</a:t>
            </a:r>
          </a:p>
          <a:p>
            <a:pPr algn="just"/>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Step 9</a:t>
            </a:r>
            <a:r>
              <a:rPr lang="en-US" sz="2400" dirty="0">
                <a:latin typeface="Times New Roman" panose="02020603050405020304" pitchFamily="18" charset="0"/>
                <a:cs typeface="Times New Roman" panose="02020603050405020304" pitchFamily="18" charset="0"/>
              </a:rPr>
              <a:t>: Display the employee salary details and payroll report.</a:t>
            </a:r>
          </a:p>
          <a:p>
            <a:pPr algn="just"/>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Step 10</a:t>
            </a:r>
            <a:r>
              <a:rPr lang="en-US" sz="2400" dirty="0">
                <a:latin typeface="Times New Roman" panose="02020603050405020304" pitchFamily="18" charset="0"/>
                <a:cs typeface="Times New Roman" panose="02020603050405020304" pitchFamily="18" charset="0"/>
              </a:rPr>
              <a:t>: Exit the application.</a:t>
            </a:r>
          </a:p>
          <a:p>
            <a:pPr algn="just"/>
            <a:endParaRPr lang="en-IN" sz="2400"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40BDB0AE-4795-5354-9F1F-7D812436DC46}"/>
              </a:ext>
            </a:extLst>
          </p:cNvPr>
          <p:cNvSpPr>
            <a:spLocks noGrp="1"/>
          </p:cNvSpPr>
          <p:nvPr>
            <p:ph type="dt" sz="half" idx="1"/>
          </p:nvPr>
        </p:nvSpPr>
        <p:spPr/>
        <p:txBody>
          <a:bodyPr/>
          <a:lstStyle/>
          <a:p>
            <a:fld id="{A4A026F9-4B12-44A3-954F-2C895BB9BCAE}" type="datetime1">
              <a:rPr lang="en-US" smtClean="0"/>
              <a:t>9/29/2026</a:t>
            </a:fld>
            <a:endParaRPr lang="en-US" dirty="0"/>
          </a:p>
        </p:txBody>
      </p:sp>
      <p:sp>
        <p:nvSpPr>
          <p:cNvPr id="4" name="Footer Placeholder 3">
            <a:extLst>
              <a:ext uri="{FF2B5EF4-FFF2-40B4-BE49-F238E27FC236}">
                <a16:creationId xmlns:a16="http://schemas.microsoft.com/office/drawing/2014/main" id="{8092F157-3236-8E9B-EECC-402FB1FEBEA1}"/>
              </a:ext>
            </a:extLst>
          </p:cNvPr>
          <p:cNvSpPr>
            <a:spLocks noGrp="1"/>
          </p:cNvSpPr>
          <p:nvPr>
            <p:ph type="ftr" sz="quarter" idx="2"/>
          </p:nvPr>
        </p:nvSpPr>
        <p:spPr/>
        <p:txBody>
          <a:bodyPr/>
          <a:lstStyle/>
          <a:p>
            <a:r>
              <a:rPr lang="en-US" dirty="0"/>
              <a:t>PBL Course Name: Object Oriented Programming through C++(2501CS08)     REVIEW-2</a:t>
            </a:r>
          </a:p>
        </p:txBody>
      </p:sp>
      <p:sp>
        <p:nvSpPr>
          <p:cNvPr id="5" name="Slide Number Placeholder 4">
            <a:extLst>
              <a:ext uri="{FF2B5EF4-FFF2-40B4-BE49-F238E27FC236}">
                <a16:creationId xmlns:a16="http://schemas.microsoft.com/office/drawing/2014/main" id="{75EF299C-D6F4-81F7-7AFB-BEB63BE2B71E}"/>
              </a:ext>
            </a:extLst>
          </p:cNvPr>
          <p:cNvSpPr>
            <a:spLocks noGrp="1"/>
          </p:cNvSpPr>
          <p:nvPr>
            <p:ph type="sldNum" sz="quarter" idx="3"/>
          </p:nvPr>
        </p:nvSpPr>
        <p:spPr/>
        <p:txBody>
          <a:bodyPr/>
          <a:lstStyle/>
          <a:p>
            <a:fld id="{9359D16F-76A5-41BA-ADDD-CBF352B33DDD}" type="slidenum">
              <a:rPr lang="en-IN" smtClean="0"/>
              <a:t>7</a:t>
            </a:fld>
            <a:endParaRPr lang="en-IN" dirty="0"/>
          </a:p>
        </p:txBody>
      </p:sp>
      <p:sp>
        <p:nvSpPr>
          <p:cNvPr id="7" name="TextBox 6">
            <a:extLst>
              <a:ext uri="{FF2B5EF4-FFF2-40B4-BE49-F238E27FC236}">
                <a16:creationId xmlns:a16="http://schemas.microsoft.com/office/drawing/2014/main" id="{56128183-F1A4-3929-9BAF-CA0F903A99AE}"/>
              </a:ext>
            </a:extLst>
          </p:cNvPr>
          <p:cNvSpPr txBox="1"/>
          <p:nvPr/>
        </p:nvSpPr>
        <p:spPr>
          <a:xfrm>
            <a:off x="1600200" y="433845"/>
            <a:ext cx="9000000" cy="535531"/>
          </a:xfrm>
          <a:prstGeom prst="rect">
            <a:avLst/>
          </a:prstGeom>
          <a:noFill/>
        </p:spPr>
        <p:txBody>
          <a:bodyPr wrap="square">
            <a:spAutoFit/>
          </a:bodyPr>
          <a:lstStyle/>
          <a:p>
            <a:pPr lvl="0" algn="ctr">
              <a:lnSpc>
                <a:spcPct val="90000"/>
              </a:lnSpc>
              <a:spcBef>
                <a:spcPct val="0"/>
              </a:spcBef>
            </a:pPr>
            <a:r>
              <a:rPr lang="en-GB" sz="3200" dirty="0">
                <a:solidFill>
                  <a:srgbClr val="0000FF"/>
                </a:solidFill>
                <a:latin typeface="Maiandra GD" panose="020E0502030308020204" pitchFamily="34" charset="0"/>
                <a:cs typeface="Aharoni" panose="02010803020104030203" pitchFamily="2" charset="-79"/>
              </a:rPr>
              <a:t>Algorithm</a:t>
            </a:r>
          </a:p>
        </p:txBody>
      </p:sp>
    </p:spTree>
    <p:extLst>
      <p:ext uri="{BB962C8B-B14F-4D97-AF65-F5344CB8AC3E}">
        <p14:creationId xmlns:p14="http://schemas.microsoft.com/office/powerpoint/2010/main" val="693449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9B459-B7F7-4A9C-DBD3-0E046AC82207}"/>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E6D01C9F-BD0C-4948-1B2B-909F3655F567}"/>
              </a:ext>
            </a:extLst>
          </p:cNvPr>
          <p:cNvSpPr>
            <a:spLocks noGrp="1"/>
          </p:cNvSpPr>
          <p:nvPr>
            <p:ph type="dt" sz="half" idx="1"/>
          </p:nvPr>
        </p:nvSpPr>
        <p:spPr/>
        <p:txBody>
          <a:bodyPr/>
          <a:lstStyle/>
          <a:p>
            <a:fld id="{A4A026F9-4B12-44A3-954F-2C895BB9BCAE}" type="datetime1">
              <a:rPr lang="en-US" smtClean="0"/>
              <a:t>9/29/2026</a:t>
            </a:fld>
            <a:endParaRPr lang="en-US" dirty="0"/>
          </a:p>
        </p:txBody>
      </p:sp>
      <p:sp>
        <p:nvSpPr>
          <p:cNvPr id="4" name="Footer Placeholder 3">
            <a:extLst>
              <a:ext uri="{FF2B5EF4-FFF2-40B4-BE49-F238E27FC236}">
                <a16:creationId xmlns:a16="http://schemas.microsoft.com/office/drawing/2014/main" id="{81C419CB-1B1A-60B4-7E2B-523A55B7AAAC}"/>
              </a:ext>
            </a:extLst>
          </p:cNvPr>
          <p:cNvSpPr>
            <a:spLocks noGrp="1"/>
          </p:cNvSpPr>
          <p:nvPr>
            <p:ph type="ftr" sz="quarter" idx="2"/>
          </p:nvPr>
        </p:nvSpPr>
        <p:spPr/>
        <p:txBody>
          <a:bodyPr/>
          <a:lstStyle/>
          <a:p>
            <a:r>
              <a:rPr lang="en-US" dirty="0"/>
              <a:t>PBL Course Name: Object Oriented Programming through C++(2501CS08)     REVIEW-2</a:t>
            </a:r>
          </a:p>
        </p:txBody>
      </p:sp>
      <p:sp>
        <p:nvSpPr>
          <p:cNvPr id="5" name="Slide Number Placeholder 4">
            <a:extLst>
              <a:ext uri="{FF2B5EF4-FFF2-40B4-BE49-F238E27FC236}">
                <a16:creationId xmlns:a16="http://schemas.microsoft.com/office/drawing/2014/main" id="{921A1705-4746-0461-54DC-6B65D0D9F609}"/>
              </a:ext>
            </a:extLst>
          </p:cNvPr>
          <p:cNvSpPr>
            <a:spLocks noGrp="1"/>
          </p:cNvSpPr>
          <p:nvPr>
            <p:ph type="sldNum" sz="quarter" idx="3"/>
          </p:nvPr>
        </p:nvSpPr>
        <p:spPr/>
        <p:txBody>
          <a:bodyPr/>
          <a:lstStyle/>
          <a:p>
            <a:fld id="{9359D16F-76A5-41BA-ADDD-CBF352B33DDD}" type="slidenum">
              <a:rPr lang="en-IN" smtClean="0"/>
              <a:t>8</a:t>
            </a:fld>
            <a:endParaRPr lang="en-IN" dirty="0"/>
          </a:p>
        </p:txBody>
      </p:sp>
      <p:sp>
        <p:nvSpPr>
          <p:cNvPr id="7" name="TextBox 6">
            <a:extLst>
              <a:ext uri="{FF2B5EF4-FFF2-40B4-BE49-F238E27FC236}">
                <a16:creationId xmlns:a16="http://schemas.microsoft.com/office/drawing/2014/main" id="{7E1385C7-95A0-2B77-00F0-08A2DE4316BD}"/>
              </a:ext>
            </a:extLst>
          </p:cNvPr>
          <p:cNvSpPr txBox="1"/>
          <p:nvPr/>
        </p:nvSpPr>
        <p:spPr>
          <a:xfrm>
            <a:off x="1600200" y="433845"/>
            <a:ext cx="9000000" cy="535531"/>
          </a:xfrm>
          <a:prstGeom prst="rect">
            <a:avLst/>
          </a:prstGeom>
          <a:noFill/>
        </p:spPr>
        <p:txBody>
          <a:bodyPr wrap="square">
            <a:spAutoFit/>
          </a:bodyPr>
          <a:lstStyle/>
          <a:p>
            <a:pPr lvl="0" algn="ctr">
              <a:lnSpc>
                <a:spcPct val="90000"/>
              </a:lnSpc>
              <a:spcBef>
                <a:spcPct val="0"/>
              </a:spcBef>
            </a:pPr>
            <a:r>
              <a:rPr lang="en-GB" sz="3200" dirty="0">
                <a:solidFill>
                  <a:srgbClr val="0000FF"/>
                </a:solidFill>
                <a:latin typeface="Maiandra GD" panose="020E0502030308020204" pitchFamily="34" charset="0"/>
                <a:cs typeface="Aharoni" panose="02010803020104030203" pitchFamily="2" charset="-79"/>
              </a:rPr>
              <a:t>Flowchart</a:t>
            </a:r>
          </a:p>
        </p:txBody>
      </p:sp>
      <p:pic>
        <p:nvPicPr>
          <p:cNvPr id="14" name="Content Placeholder 13">
            <a:extLst>
              <a:ext uri="{FF2B5EF4-FFF2-40B4-BE49-F238E27FC236}">
                <a16:creationId xmlns:a16="http://schemas.microsoft.com/office/drawing/2014/main" id="{FB4B53CA-B154-54E7-B506-EEE44C6D7520}"/>
              </a:ext>
            </a:extLst>
          </p:cNvPr>
          <p:cNvPicPr>
            <a:picLocks noGrp="1" noChangeAspect="1"/>
          </p:cNvPicPr>
          <p:nvPr>
            <p:ph/>
          </p:nvPr>
        </p:nvPicPr>
        <p:blipFill>
          <a:blip r:embed="rId2">
            <a:extLst>
              <a:ext uri="{28A0092B-C50C-407E-A947-70E740481C1C}">
                <a14:useLocalDpi xmlns:a14="http://schemas.microsoft.com/office/drawing/2010/main" val="0"/>
              </a:ext>
            </a:extLst>
          </a:blip>
          <a:stretch>
            <a:fillRect/>
          </a:stretch>
        </p:blipFill>
        <p:spPr>
          <a:xfrm>
            <a:off x="4114800" y="1115126"/>
            <a:ext cx="4724400" cy="5095473"/>
          </a:xfrm>
          <a:prstGeom prst="rect">
            <a:avLst/>
          </a:prstGeom>
        </p:spPr>
      </p:pic>
    </p:spTree>
    <p:extLst>
      <p:ext uri="{BB962C8B-B14F-4D97-AF65-F5344CB8AC3E}">
        <p14:creationId xmlns:p14="http://schemas.microsoft.com/office/powerpoint/2010/main" val="3788972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p:txBody>
          <a:bodyPr>
            <a:noAutofit/>
          </a:bodyPr>
          <a:lstStyle/>
          <a:p>
            <a:pPr marL="914400" indent="-4572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Employee Class – stores employee ID, name, department, designation, contact</a:t>
            </a:r>
          </a:p>
          <a:p>
            <a:pPr algn="just"/>
            <a:r>
              <a:rPr lang="en-US" sz="2200" dirty="0">
                <a:latin typeface="Times New Roman" panose="02020603050405020304" pitchFamily="18" charset="0"/>
                <a:cs typeface="Times New Roman" panose="02020603050405020304" pitchFamily="18" charset="0"/>
              </a:rPr>
              <a:t>        details, and joining date</a:t>
            </a:r>
          </a:p>
          <a:p>
            <a:pPr marL="914400" indent="-4572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Attendance Class – records employee attendance, working hours, overtime, and   </a:t>
            </a:r>
          </a:p>
          <a:p>
            <a:pPr algn="just"/>
            <a:r>
              <a:rPr lang="en-US" sz="2200" dirty="0">
                <a:latin typeface="Times New Roman" panose="02020603050405020304" pitchFamily="18" charset="0"/>
                <a:cs typeface="Times New Roman" panose="02020603050405020304" pitchFamily="18" charset="0"/>
              </a:rPr>
              <a:t>        leave details</a:t>
            </a:r>
          </a:p>
          <a:p>
            <a:pPr marL="914400" indent="-4572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Salary Class – stores basic salary, allowances, deductions, and calculates net salary</a:t>
            </a:r>
          </a:p>
          <a:p>
            <a:pPr marL="914400" indent="-4572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Payroll Class – processes monthly payroll and maintains salary payment records</a:t>
            </a:r>
          </a:p>
          <a:p>
            <a:pPr marL="914400" indent="-4572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Leave Class – manages employee leave requests, leave types, and approval status</a:t>
            </a:r>
          </a:p>
          <a:p>
            <a:pPr marL="914400" indent="-4572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Salary Slip Class – generates salary slips containing employee and salary details</a:t>
            </a:r>
          </a:p>
          <a:p>
            <a:pPr marL="914400" indent="-4572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Report Class – generates payroll, attendance, salary, and employee reports</a:t>
            </a:r>
          </a:p>
          <a:p>
            <a:pPr marL="914400" indent="-4572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Admin Class – manages employee records, payroll data, users, and system</a:t>
            </a:r>
          </a:p>
          <a:p>
            <a:pPr algn="just"/>
            <a:r>
              <a:rPr lang="en-US" sz="2200" dirty="0">
                <a:latin typeface="Times New Roman" panose="02020603050405020304" pitchFamily="18" charset="0"/>
                <a:cs typeface="Times New Roman" panose="02020603050405020304" pitchFamily="18" charset="0"/>
              </a:rPr>
              <a:t>        operations</a:t>
            </a:r>
          </a:p>
          <a:p>
            <a:pPr marL="914400" indent="-457200" algn="just">
              <a:lnSpc>
                <a:spcPct val="150000"/>
              </a:lnSpc>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fld id="{A4A026F9-4B12-44A3-954F-2C895BB9BCAE}" type="datetime1">
              <a:rPr lang="en-US" smtClean="0"/>
              <a:t>9/29/2026</a:t>
            </a:fld>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dirty="0"/>
              <a:t>PBL Course Name: Object Oriented Programming through C++(2501CS08)     REVIEW-2</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9</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661720"/>
          </a:xfrm>
          <a:prstGeom prst="rect">
            <a:avLst/>
          </a:prstGeom>
          <a:noFill/>
        </p:spPr>
        <p:txBody>
          <a:bodyPr wrap="square">
            <a:spAutoFit/>
          </a:bodyPr>
          <a:lstStyle/>
          <a:p>
            <a:pPr lvl="0" algn="ctr">
              <a:lnSpc>
                <a:spcPct val="90000"/>
              </a:lnSpc>
              <a:spcBef>
                <a:spcPct val="0"/>
              </a:spcBef>
            </a:pPr>
            <a:r>
              <a:rPr lang="en-GB" sz="3200" dirty="0">
                <a:solidFill>
                  <a:srgbClr val="0000FF"/>
                </a:solidFill>
                <a:latin typeface="Maiandra GD" panose="020E0502030308020204" pitchFamily="34" charset="0"/>
                <a:cs typeface="Aharoni" panose="02010803020104030203" pitchFamily="2" charset="-79"/>
              </a:rPr>
              <a:t>Modules / Functionalities</a:t>
            </a:r>
          </a:p>
        </p:txBody>
      </p:sp>
    </p:spTree>
    <p:extLst>
      <p:ext uri="{BB962C8B-B14F-4D97-AF65-F5344CB8AC3E}">
        <p14:creationId xmlns:p14="http://schemas.microsoft.com/office/powerpoint/2010/main" val="1780977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B0744-8AEB-78D1-AF51-90745630E7F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326FC4-004E-3776-CF10-B6A367E20103}"/>
              </a:ext>
            </a:extLst>
          </p:cNvPr>
          <p:cNvSpPr>
            <a:spLocks noGrp="1"/>
          </p:cNvSpPr>
          <p:nvPr>
            <p:ph/>
          </p:nvPr>
        </p:nvSpPr>
        <p:spPr>
          <a:xfrm>
            <a:off x="0" y="1397153"/>
            <a:ext cx="11353800" cy="4531419"/>
          </a:xfrm>
        </p:spPr>
        <p:txBody>
          <a:bodyPr>
            <a:noAutofit/>
          </a:bodyPr>
          <a:lstStyle/>
          <a:p>
            <a:pPr lvl="1" algn="just"/>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Database Integration</a:t>
            </a:r>
            <a:r>
              <a:rPr lang="en-US" sz="2200" dirty="0">
                <a:latin typeface="Times New Roman" panose="02020603050405020304" pitchFamily="18" charset="0"/>
                <a:cs typeface="Times New Roman" panose="02020603050405020304" pitchFamily="18" charset="0"/>
              </a:rPr>
              <a:t> – Store employee and payroll records in a database for</a:t>
            </a:r>
          </a:p>
          <a:p>
            <a:pPr lvl="1" algn="just"/>
            <a:r>
              <a:rPr lang="en-US" sz="2200" dirty="0">
                <a:latin typeface="Times New Roman" panose="02020603050405020304" pitchFamily="18" charset="0"/>
                <a:cs typeface="Times New Roman" panose="02020603050405020304" pitchFamily="18" charset="0"/>
              </a:rPr>
              <a:t>  secure and efficient data management.</a:t>
            </a:r>
          </a:p>
          <a:p>
            <a:pPr lvl="1" algn="just"/>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User Login &amp; Authentication</a:t>
            </a:r>
            <a:r>
              <a:rPr lang="en-US" sz="2200" dirty="0">
                <a:latin typeface="Times New Roman" panose="02020603050405020304" pitchFamily="18" charset="0"/>
                <a:cs typeface="Times New Roman" panose="02020603050405020304" pitchFamily="18" charset="0"/>
              </a:rPr>
              <a:t> – Provide separate login access for HR</a:t>
            </a:r>
          </a:p>
          <a:p>
            <a:pPr lvl="1" algn="just"/>
            <a:r>
              <a:rPr lang="en-US" sz="2200" dirty="0">
                <a:latin typeface="Times New Roman" panose="02020603050405020304" pitchFamily="18" charset="0"/>
                <a:cs typeface="Times New Roman" panose="02020603050405020304" pitchFamily="18" charset="0"/>
              </a:rPr>
              <a:t>   managers, administrators, and employees.</a:t>
            </a:r>
          </a:p>
          <a:p>
            <a:pPr lvl="1" algn="just"/>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Employee Self-Service</a:t>
            </a:r>
            <a:r>
              <a:rPr lang="en-US" sz="2200" dirty="0">
                <a:latin typeface="Times New Roman" panose="02020603050405020304" pitchFamily="18" charset="0"/>
                <a:cs typeface="Times New Roman" panose="02020603050405020304" pitchFamily="18" charset="0"/>
              </a:rPr>
              <a:t> – Allow employees to view their salary details, </a:t>
            </a:r>
            <a:r>
              <a:rPr lang="en-US" sz="2200" dirty="0" err="1">
                <a:latin typeface="Times New Roman" panose="02020603050405020304" pitchFamily="18" charset="0"/>
                <a:cs typeface="Times New Roman" panose="02020603050405020304" pitchFamily="18" charset="0"/>
              </a:rPr>
              <a:t>payslips</a:t>
            </a:r>
            <a:r>
              <a:rPr lang="en-US" sz="2200" dirty="0">
                <a:latin typeface="Times New Roman" panose="02020603050405020304" pitchFamily="18" charset="0"/>
                <a:cs typeface="Times New Roman" panose="02020603050405020304" pitchFamily="18" charset="0"/>
              </a:rPr>
              <a:t>, attendance, and deductions.</a:t>
            </a:r>
          </a:p>
          <a:p>
            <a:pPr lvl="1" algn="just"/>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Automated Salary Calculation</a:t>
            </a:r>
            <a:r>
              <a:rPr lang="en-US" sz="2200" dirty="0">
                <a:latin typeface="Times New Roman" panose="02020603050405020304" pitchFamily="18" charset="0"/>
                <a:cs typeface="Times New Roman" panose="02020603050405020304" pitchFamily="18" charset="0"/>
              </a:rPr>
              <a:t> – Automatically calculate gross salary, deductions, taxes, bonuses, and net salary.</a:t>
            </a:r>
          </a:p>
          <a:p>
            <a:pPr lvl="1" algn="just"/>
            <a:r>
              <a:rPr lang="en-US" sz="2200" dirty="0">
                <a:latin typeface="Times New Roman" panose="02020603050405020304" pitchFamily="18" charset="0"/>
                <a:cs typeface="Times New Roman" panose="02020603050405020304" pitchFamily="18" charset="0"/>
              </a:rPr>
              <a:t>• </a:t>
            </a:r>
            <a:r>
              <a:rPr lang="en-US" sz="2200" b="1" dirty="0" err="1">
                <a:latin typeface="Times New Roman" panose="02020603050405020304" pitchFamily="18" charset="0"/>
                <a:cs typeface="Times New Roman" panose="02020603050405020304" pitchFamily="18" charset="0"/>
              </a:rPr>
              <a:t>Payslip</a:t>
            </a:r>
            <a:r>
              <a:rPr lang="en-US" sz="2200" b="1" dirty="0">
                <a:latin typeface="Times New Roman" panose="02020603050405020304" pitchFamily="18" charset="0"/>
                <a:cs typeface="Times New Roman" panose="02020603050405020304" pitchFamily="18" charset="0"/>
              </a:rPr>
              <a:t> Generation</a:t>
            </a:r>
            <a:r>
              <a:rPr lang="en-US" sz="2200" dirty="0">
                <a:latin typeface="Times New Roman" panose="02020603050405020304" pitchFamily="18" charset="0"/>
                <a:cs typeface="Times New Roman" panose="02020603050405020304" pitchFamily="18" charset="0"/>
              </a:rPr>
              <a:t> – Generate and download digital </a:t>
            </a:r>
            <a:r>
              <a:rPr lang="en-US" sz="2200" dirty="0" err="1">
                <a:latin typeface="Times New Roman" panose="02020603050405020304" pitchFamily="18" charset="0"/>
                <a:cs typeface="Times New Roman" panose="02020603050405020304" pitchFamily="18" charset="0"/>
              </a:rPr>
              <a:t>payslips</a:t>
            </a:r>
            <a:r>
              <a:rPr lang="en-US" sz="2200" dirty="0">
                <a:latin typeface="Times New Roman" panose="02020603050405020304" pitchFamily="18" charset="0"/>
                <a:cs typeface="Times New Roman" panose="02020603050405020304" pitchFamily="18" charset="0"/>
              </a:rPr>
              <a:t> for employees.</a:t>
            </a:r>
          </a:p>
          <a:p>
            <a:pPr lvl="1" algn="just"/>
            <a:r>
              <a:rPr lang="en-US" sz="2200" dirty="0">
                <a:latin typeface="Times New Roman" panose="02020603050405020304" pitchFamily="18" charset="0"/>
                <a:cs typeface="Times New Roman" panose="02020603050405020304" pitchFamily="18" charset="0"/>
              </a:rPr>
              <a:t>•</a:t>
            </a:r>
            <a:r>
              <a:rPr lang="en-US" sz="2200" b="1" dirty="0">
                <a:latin typeface="Times New Roman" panose="02020603050405020304" pitchFamily="18" charset="0"/>
                <a:cs typeface="Times New Roman" panose="02020603050405020304" pitchFamily="18" charset="0"/>
              </a:rPr>
              <a:t> Attendance &amp; Leave Management</a:t>
            </a:r>
            <a:r>
              <a:rPr lang="en-US" sz="2200" dirty="0">
                <a:latin typeface="Times New Roman" panose="02020603050405020304" pitchFamily="18" charset="0"/>
                <a:cs typeface="Times New Roman" panose="02020603050405020304" pitchFamily="18" charset="0"/>
              </a:rPr>
              <a:t> – Integrate attendance and leave records with payroll calculations.</a:t>
            </a:r>
            <a:endParaRPr lang="en-IN" sz="220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F113E393-9E71-105A-9A9B-2CD752CE628A}"/>
              </a:ext>
            </a:extLst>
          </p:cNvPr>
          <p:cNvSpPr>
            <a:spLocks noGrp="1"/>
          </p:cNvSpPr>
          <p:nvPr>
            <p:ph type="dt" sz="half" idx="1"/>
          </p:nvPr>
        </p:nvSpPr>
        <p:spPr/>
        <p:txBody>
          <a:bodyPr/>
          <a:lstStyle/>
          <a:p>
            <a:pPr algn="just"/>
            <a:fld id="{A4A026F9-4B12-44A3-954F-2C895BB9BCAE}" type="datetime1">
              <a:rPr lang="en-US" smtClean="0"/>
              <a:pPr algn="just"/>
              <a:t>9/29/2026</a:t>
            </a:fld>
            <a:endParaRPr lang="en-US" dirty="0"/>
          </a:p>
        </p:txBody>
      </p:sp>
      <p:sp>
        <p:nvSpPr>
          <p:cNvPr id="4" name="Footer Placeholder 3">
            <a:extLst>
              <a:ext uri="{FF2B5EF4-FFF2-40B4-BE49-F238E27FC236}">
                <a16:creationId xmlns:a16="http://schemas.microsoft.com/office/drawing/2014/main" id="{7DE418BB-2143-2BC4-86CC-B84C7308D412}"/>
              </a:ext>
            </a:extLst>
          </p:cNvPr>
          <p:cNvSpPr>
            <a:spLocks noGrp="1"/>
          </p:cNvSpPr>
          <p:nvPr>
            <p:ph type="ftr" sz="quarter" idx="2"/>
          </p:nvPr>
        </p:nvSpPr>
        <p:spPr/>
        <p:txBody>
          <a:bodyPr/>
          <a:lstStyle/>
          <a:p>
            <a:pPr algn="just"/>
            <a:r>
              <a:rPr lang="en-US" dirty="0"/>
              <a:t>PBL Course Name: Object Oriented Programming through C++(2501CS08)     REVIEW-2</a:t>
            </a:r>
          </a:p>
        </p:txBody>
      </p:sp>
      <p:sp>
        <p:nvSpPr>
          <p:cNvPr id="5" name="Slide Number Placeholder 4">
            <a:extLst>
              <a:ext uri="{FF2B5EF4-FFF2-40B4-BE49-F238E27FC236}">
                <a16:creationId xmlns:a16="http://schemas.microsoft.com/office/drawing/2014/main" id="{1E84FDBC-7972-A16B-D98D-6B59C09BA51C}"/>
              </a:ext>
            </a:extLst>
          </p:cNvPr>
          <p:cNvSpPr>
            <a:spLocks noGrp="1"/>
          </p:cNvSpPr>
          <p:nvPr>
            <p:ph type="sldNum" sz="quarter" idx="3"/>
          </p:nvPr>
        </p:nvSpPr>
        <p:spPr/>
        <p:txBody>
          <a:bodyPr/>
          <a:lstStyle/>
          <a:p>
            <a:pPr algn="just"/>
            <a:fld id="{9359D16F-76A5-41BA-ADDD-CBF352B33DDD}" type="slidenum">
              <a:rPr lang="en-IN" smtClean="0"/>
              <a:pPr algn="just"/>
              <a:t>10</a:t>
            </a:fld>
            <a:endParaRPr lang="en-IN" dirty="0"/>
          </a:p>
        </p:txBody>
      </p:sp>
      <p:sp>
        <p:nvSpPr>
          <p:cNvPr id="7" name="TextBox 6">
            <a:extLst>
              <a:ext uri="{FF2B5EF4-FFF2-40B4-BE49-F238E27FC236}">
                <a16:creationId xmlns:a16="http://schemas.microsoft.com/office/drawing/2014/main" id="{296E35EB-A2FA-52EF-E91C-81B94BCC285F}"/>
              </a:ext>
            </a:extLst>
          </p:cNvPr>
          <p:cNvSpPr txBox="1"/>
          <p:nvPr/>
        </p:nvSpPr>
        <p:spPr>
          <a:xfrm>
            <a:off x="1596000" y="433845"/>
            <a:ext cx="9000000" cy="535531"/>
          </a:xfrm>
          <a:prstGeom prst="rect">
            <a:avLst/>
          </a:prstGeom>
          <a:noFill/>
        </p:spPr>
        <p:txBody>
          <a:bodyPr wrap="square">
            <a:spAutoFit/>
          </a:bodyPr>
          <a:lstStyle/>
          <a:p>
            <a:pPr lvl="0" algn="just">
              <a:lnSpc>
                <a:spcPct val="90000"/>
              </a:lnSpc>
              <a:spcBef>
                <a:spcPct val="0"/>
              </a:spcBef>
            </a:pPr>
            <a:r>
              <a:rPr lang="en-GB" sz="3200" dirty="0">
                <a:solidFill>
                  <a:srgbClr val="0000FF"/>
                </a:solidFill>
                <a:latin typeface="Maiandra GD" panose="020E0502030308020204" pitchFamily="34" charset="0"/>
                <a:cs typeface="Aharoni" panose="02010803020104030203" pitchFamily="2" charset="-79"/>
              </a:rPr>
              <a:t>Future Enhancements</a:t>
            </a:r>
          </a:p>
        </p:txBody>
      </p:sp>
    </p:spTree>
    <p:extLst>
      <p:ext uri="{BB962C8B-B14F-4D97-AF65-F5344CB8AC3E}">
        <p14:creationId xmlns:p14="http://schemas.microsoft.com/office/powerpoint/2010/main" val="1369371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B8989-3463-4A2D-8EFE-92E0AB6511C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77671F-ED15-BA78-DA8C-2945AADE1596}"/>
              </a:ext>
            </a:extLst>
          </p:cNvPr>
          <p:cNvSpPr>
            <a:spLocks noGrp="1"/>
          </p:cNvSpPr>
          <p:nvPr>
            <p:ph/>
          </p:nvPr>
        </p:nvSpPr>
        <p:spPr>
          <a:xfrm>
            <a:off x="695400" y="1397153"/>
            <a:ext cx="10515600" cy="4531419"/>
          </a:xfrm>
        </p:spPr>
        <p:txBody>
          <a:bodyPr>
            <a:noAutofit/>
          </a:bodyPr>
          <a:lstStyle/>
          <a:p>
            <a:pPr marL="800100" indent="-342900">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Employee Payroll System is designed to simplify and automate the process of managing   employee salaries and payroll records. It reduces manual calculations, minimizes errors, and provides quick access to employee salary information.</a:t>
            </a:r>
          </a:p>
          <a:p>
            <a:pPr>
              <a:lnSpc>
                <a:spcPct val="100000"/>
              </a:lnSpc>
            </a:pPr>
            <a:r>
              <a:rPr lang="en-US" sz="2000" b="1" dirty="0">
                <a:latin typeface="Times New Roman" panose="02020603050405020304" pitchFamily="18" charset="0"/>
                <a:cs typeface="Times New Roman" panose="02020603050405020304" pitchFamily="18" charset="0"/>
              </a:rPr>
              <a:t>Key benefits</a:t>
            </a:r>
            <a:r>
              <a:rPr lang="en-US" sz="2000" dirty="0">
                <a:latin typeface="Times New Roman" panose="02020603050405020304" pitchFamily="18" charset="0"/>
                <a:cs typeface="Times New Roman" panose="02020603050405020304" pitchFamily="18" charset="0"/>
              </a:rPr>
              <a:t>:</a:t>
            </a:r>
          </a:p>
          <a:p>
            <a:pPr marL="800100" lvl="0" indent="-342900">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Automates salary and deduction calculations. </a:t>
            </a:r>
          </a:p>
          <a:p>
            <a:pPr marL="800100" lvl="0" indent="-342900">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Maintains employee payroll records efficiently. </a:t>
            </a:r>
          </a:p>
          <a:p>
            <a:pPr marL="800100" lvl="0" indent="-342900">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Reduces paperwork and manual errors. </a:t>
            </a:r>
          </a:p>
          <a:p>
            <a:pPr marL="800100" lvl="0" indent="-342900">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Generates clear payroll reports and </a:t>
            </a:r>
            <a:r>
              <a:rPr lang="en-US" sz="2000" dirty="0" err="1">
                <a:latin typeface="Times New Roman" panose="02020603050405020304" pitchFamily="18" charset="0"/>
                <a:cs typeface="Times New Roman" panose="02020603050405020304" pitchFamily="18" charset="0"/>
              </a:rPr>
              <a:t>payslips</a:t>
            </a:r>
            <a:r>
              <a:rPr lang="en-US" sz="2000" dirty="0">
                <a:latin typeface="Times New Roman" panose="02020603050405020304" pitchFamily="18" charset="0"/>
                <a:cs typeface="Times New Roman" panose="02020603050405020304" pitchFamily="18" charset="0"/>
              </a:rPr>
              <a:t>. </a:t>
            </a:r>
          </a:p>
          <a:p>
            <a:pPr marL="800100" lvl="0" indent="-342900">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a structured and user-friendly payroll management system. </a:t>
            </a:r>
          </a:p>
          <a:p>
            <a:pPr marL="800100" indent="-342900">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Overall, the system helps organizations manage payroll in a faster, accurate, and organized manner.</a:t>
            </a:r>
          </a:p>
          <a:p>
            <a:pPr algn="just">
              <a:lnSpc>
                <a:spcPct val="100000"/>
              </a:lnSpc>
            </a:pPr>
            <a:endParaRPr lang="en-IN" sz="220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92BCE596-11C0-1D88-4EDB-B8FF791DFECC}"/>
              </a:ext>
            </a:extLst>
          </p:cNvPr>
          <p:cNvSpPr>
            <a:spLocks noGrp="1"/>
          </p:cNvSpPr>
          <p:nvPr>
            <p:ph type="dt" sz="half" idx="1"/>
          </p:nvPr>
        </p:nvSpPr>
        <p:spPr/>
        <p:txBody>
          <a:bodyPr/>
          <a:lstStyle/>
          <a:p>
            <a:fld id="{A4A026F9-4B12-44A3-954F-2C895BB9BCAE}" type="datetime1">
              <a:rPr lang="en-US" smtClean="0"/>
              <a:pPr/>
              <a:t>9/29/2026</a:t>
            </a:fld>
            <a:endParaRPr lang="en-US" dirty="0"/>
          </a:p>
        </p:txBody>
      </p:sp>
      <p:sp>
        <p:nvSpPr>
          <p:cNvPr id="4" name="Footer Placeholder 3">
            <a:extLst>
              <a:ext uri="{FF2B5EF4-FFF2-40B4-BE49-F238E27FC236}">
                <a16:creationId xmlns:a16="http://schemas.microsoft.com/office/drawing/2014/main" id="{09DC5809-68C5-8CF5-D656-A657BD9E2A30}"/>
              </a:ext>
            </a:extLst>
          </p:cNvPr>
          <p:cNvSpPr>
            <a:spLocks noGrp="1"/>
          </p:cNvSpPr>
          <p:nvPr>
            <p:ph type="ftr" sz="quarter" idx="2"/>
          </p:nvPr>
        </p:nvSpPr>
        <p:spPr/>
        <p:txBody>
          <a:bodyPr/>
          <a:lstStyle/>
          <a:p>
            <a:r>
              <a:rPr lang="en-US" dirty="0"/>
              <a:t>PBL Course Name: Object Oriented Programming through C++(2501CS08)     REVIEW-2</a:t>
            </a:r>
          </a:p>
        </p:txBody>
      </p:sp>
      <p:sp>
        <p:nvSpPr>
          <p:cNvPr id="5" name="Slide Number Placeholder 4">
            <a:extLst>
              <a:ext uri="{FF2B5EF4-FFF2-40B4-BE49-F238E27FC236}">
                <a16:creationId xmlns:a16="http://schemas.microsoft.com/office/drawing/2014/main" id="{D68EF8D4-5B1D-6D5B-CDFA-6E111FB79E7E}"/>
              </a:ext>
            </a:extLst>
          </p:cNvPr>
          <p:cNvSpPr>
            <a:spLocks noGrp="1"/>
          </p:cNvSpPr>
          <p:nvPr>
            <p:ph type="sldNum" sz="quarter" idx="3"/>
          </p:nvPr>
        </p:nvSpPr>
        <p:spPr/>
        <p:txBody>
          <a:bodyPr/>
          <a:lstStyle/>
          <a:p>
            <a:fld id="{9359D16F-76A5-41BA-ADDD-CBF352B33DDD}" type="slidenum">
              <a:rPr lang="en-IN" smtClean="0"/>
              <a:pPr/>
              <a:t>11</a:t>
            </a:fld>
            <a:endParaRPr lang="en-IN" dirty="0"/>
          </a:p>
        </p:txBody>
      </p:sp>
      <p:sp>
        <p:nvSpPr>
          <p:cNvPr id="7" name="TextBox 6">
            <a:extLst>
              <a:ext uri="{FF2B5EF4-FFF2-40B4-BE49-F238E27FC236}">
                <a16:creationId xmlns:a16="http://schemas.microsoft.com/office/drawing/2014/main" id="{F7537519-0CBF-C62C-7DC4-FA517EDFB742}"/>
              </a:ext>
            </a:extLst>
          </p:cNvPr>
          <p:cNvSpPr txBox="1"/>
          <p:nvPr/>
        </p:nvSpPr>
        <p:spPr>
          <a:xfrm>
            <a:off x="1596000" y="433845"/>
            <a:ext cx="9000000" cy="535531"/>
          </a:xfrm>
          <a:prstGeom prst="rect">
            <a:avLst/>
          </a:prstGeom>
          <a:noFill/>
        </p:spPr>
        <p:txBody>
          <a:bodyPr wrap="square">
            <a:spAutoFit/>
          </a:bodyPr>
          <a:lstStyle/>
          <a:p>
            <a:pPr lvl="0" algn="ctr">
              <a:lnSpc>
                <a:spcPct val="90000"/>
              </a:lnSpc>
              <a:spcBef>
                <a:spcPct val="0"/>
              </a:spcBef>
            </a:pPr>
            <a:r>
              <a:rPr lang="en-GB" sz="3200" dirty="0">
                <a:solidFill>
                  <a:srgbClr val="0000FF"/>
                </a:solidFill>
                <a:latin typeface="Maiandra GD" panose="020E0502030308020204" pitchFamily="34" charset="0"/>
                <a:cs typeface="Aharoni" panose="02010803020104030203" pitchFamily="2" charset="-79"/>
              </a:rPr>
              <a:t>Conclusion</a:t>
            </a:r>
          </a:p>
        </p:txBody>
      </p:sp>
    </p:spTree>
    <p:extLst>
      <p:ext uri="{BB962C8B-B14F-4D97-AF65-F5344CB8AC3E}">
        <p14:creationId xmlns:p14="http://schemas.microsoft.com/office/powerpoint/2010/main" val="2339299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fld id="{A4A026F9-4B12-44A3-954F-2C895BB9BCAE}" type="datetime1">
              <a:rPr lang="en-US" smtClean="0"/>
              <a:t>9/29/2026</a:t>
            </a:fld>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dirty="0"/>
              <a:t>PBL Course Name: Object Oriented Programming through C++(2501CS08)     REVIEW-2</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12</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661720"/>
          </a:xfrm>
          <a:prstGeom prst="rect">
            <a:avLst/>
          </a:prstGeom>
          <a:noFill/>
        </p:spPr>
        <p:txBody>
          <a:bodyPr wrap="square">
            <a:spAutoFit/>
          </a:bodyPr>
          <a:lstStyle/>
          <a:p>
            <a:pPr lvl="0" algn="ctr">
              <a:lnSpc>
                <a:spcPct val="90000"/>
              </a:lnSpc>
              <a:spcBef>
                <a:spcPct val="0"/>
              </a:spcBef>
            </a:pPr>
            <a:r>
              <a:rPr lang="en-GB" sz="3200" dirty="0">
                <a:solidFill>
                  <a:srgbClr val="0000FF"/>
                </a:solidFill>
                <a:latin typeface="Maiandra GD" panose="020E0502030308020204" pitchFamily="34" charset="0"/>
                <a:cs typeface="Aharoni" panose="02010803020104030203" pitchFamily="2" charset="-79"/>
              </a:rPr>
              <a:t>Role of Each Individual</a:t>
            </a:r>
          </a:p>
        </p:txBody>
      </p:sp>
      <p:graphicFrame>
        <p:nvGraphicFramePr>
          <p:cNvPr id="8" name="Table 7"/>
          <p:cNvGraphicFramePr>
            <a:graphicFrameLocks noGrp="1"/>
          </p:cNvGraphicFramePr>
          <p:nvPr>
            <p:extLst>
              <p:ext uri="{D42A27DB-BD31-4B8C-83A1-F6EECF244321}">
                <p14:modId xmlns:p14="http://schemas.microsoft.com/office/powerpoint/2010/main" val="202148600"/>
              </p:ext>
            </p:extLst>
          </p:nvPr>
        </p:nvGraphicFramePr>
        <p:xfrm>
          <a:off x="914400" y="1920240"/>
          <a:ext cx="9418320" cy="32004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40080">
                <a:tc>
                  <a:txBody>
                    <a:bodyPr/>
                    <a:lstStyle/>
                    <a:p>
                      <a:r>
                        <a:rPr sz="1800" b="1">
                          <a:solidFill>
                            <a:srgbClr val="FFFFFF"/>
                          </a:solidFill>
                          <a:latin typeface="Times New Roman" panose="02020603050405020304" pitchFamily="18" charset="0"/>
                          <a:cs typeface="Times New Roman" panose="02020603050405020304" pitchFamily="18" charset="0"/>
                        </a:rPr>
                        <a:t>Roll No.</a:t>
                      </a:r>
                    </a:p>
                  </a:txBody>
                  <a:tcPr anchor="ctr">
                    <a:solidFill>
                      <a:srgbClr val="1F3A5F"/>
                    </a:solidFill>
                  </a:tcPr>
                </a:tc>
                <a:tc>
                  <a:txBody>
                    <a:bodyPr/>
                    <a:lstStyle/>
                    <a:p>
                      <a:r>
                        <a:rPr sz="1800" b="1">
                          <a:solidFill>
                            <a:srgbClr val="FFFFFF"/>
                          </a:solidFill>
                          <a:latin typeface="Times New Roman" panose="02020603050405020304" pitchFamily="18" charset="0"/>
                          <a:cs typeface="Times New Roman" panose="02020603050405020304" pitchFamily="18" charset="0"/>
                        </a:rPr>
                        <a:t>Name</a:t>
                      </a:r>
                    </a:p>
                  </a:txBody>
                  <a:tcPr anchor="ctr">
                    <a:solidFill>
                      <a:srgbClr val="1F3A5F"/>
                    </a:solidFill>
                  </a:tcPr>
                </a:tc>
                <a:tc>
                  <a:txBody>
                    <a:bodyPr/>
                    <a:lstStyle/>
                    <a:p>
                      <a:r>
                        <a:rPr sz="1800" b="1">
                          <a:solidFill>
                            <a:srgbClr val="FFFFFF"/>
                          </a:solidFill>
                          <a:latin typeface="Times New Roman" panose="02020603050405020304" pitchFamily="18" charset="0"/>
                          <a:cs typeface="Times New Roman" panose="02020603050405020304" pitchFamily="18" charset="0"/>
                        </a:rPr>
                        <a:t>Role / Responsibility</a:t>
                      </a:r>
                    </a:p>
                  </a:txBody>
                  <a:tcPr anchor="ctr">
                    <a:solidFill>
                      <a:srgbClr val="1F3A5F"/>
                    </a:solidFill>
                  </a:tcPr>
                </a:tc>
                <a:extLst>
                  <a:ext uri="{0D108BD9-81ED-4DB2-BD59-A6C34878D82A}">
                    <a16:rowId xmlns:a16="http://schemas.microsoft.com/office/drawing/2014/main" val="10000"/>
                  </a:ext>
                </a:extLst>
              </a:tr>
              <a:tr h="640080">
                <a:tc>
                  <a:txBody>
                    <a:bodyPr/>
                    <a:lstStyle/>
                    <a:p>
                      <a:r>
                        <a:rPr sz="1800" b="0" dirty="0">
                          <a:solidFill>
                            <a:srgbClr val="222222"/>
                          </a:solidFill>
                          <a:latin typeface="Times New Roman" panose="02020603050405020304" pitchFamily="18" charset="0"/>
                          <a:cs typeface="Times New Roman" panose="02020603050405020304" pitchFamily="18" charset="0"/>
                        </a:rPr>
                        <a:t>25B11AIB60</a:t>
                      </a:r>
                    </a:p>
                  </a:txBody>
                  <a:tcPr anchor="ctr">
                    <a:solidFill>
                      <a:srgbClr val="FFFFFF"/>
                    </a:solidFill>
                  </a:tcPr>
                </a:tc>
                <a:tc>
                  <a:txBody>
                    <a:bodyPr/>
                    <a:lstStyle/>
                    <a:p>
                      <a:r>
                        <a:rPr lang="en-US" sz="1800" b="0" dirty="0">
                          <a:solidFill>
                            <a:srgbClr val="222222"/>
                          </a:solidFill>
                          <a:latin typeface="Times New Roman" panose="02020603050405020304" pitchFamily="18" charset="0"/>
                          <a:cs typeface="Times New Roman" panose="02020603050405020304" pitchFamily="18" charset="0"/>
                        </a:rPr>
                        <a:t>Saila Harshith</a:t>
                      </a:r>
                      <a:endParaRPr sz="1800" b="0" dirty="0">
                        <a:solidFill>
                          <a:srgbClr val="222222"/>
                        </a:solidFill>
                        <a:latin typeface="Times New Roman" panose="02020603050405020304" pitchFamily="18" charset="0"/>
                        <a:cs typeface="Times New Roman" panose="02020603050405020304" pitchFamily="18" charset="0"/>
                      </a:endParaRPr>
                    </a:p>
                  </a:txBody>
                  <a:tcPr anchor="ctr">
                    <a:solidFill>
                      <a:srgbClr val="FFFFFF"/>
                    </a:solidFill>
                  </a:tcPr>
                </a:tc>
                <a:tc>
                  <a:txBody>
                    <a:bodyPr/>
                    <a:lstStyle/>
                    <a:p>
                      <a:r>
                        <a:rPr sz="1800" b="0" dirty="0">
                          <a:solidFill>
                            <a:srgbClr val="222222"/>
                          </a:solidFill>
                          <a:latin typeface="Times New Roman" panose="02020603050405020304" pitchFamily="18" charset="0"/>
                          <a:cs typeface="Times New Roman" panose="02020603050405020304" pitchFamily="18" charset="0"/>
                        </a:rPr>
                        <a:t>Class design, Employee &amp; Payroll modules</a:t>
                      </a:r>
                    </a:p>
                  </a:txBody>
                  <a:tcPr anchor="ctr">
                    <a:solidFill>
                      <a:srgbClr val="FFFFFF"/>
                    </a:solidFill>
                  </a:tcPr>
                </a:tc>
                <a:extLst>
                  <a:ext uri="{0D108BD9-81ED-4DB2-BD59-A6C34878D82A}">
                    <a16:rowId xmlns:a16="http://schemas.microsoft.com/office/drawing/2014/main" val="10001"/>
                  </a:ext>
                </a:extLst>
              </a:tr>
              <a:tr h="640080">
                <a:tc>
                  <a:txBody>
                    <a:bodyPr/>
                    <a:lstStyle/>
                    <a:p>
                      <a:r>
                        <a:rPr sz="1800" b="0" dirty="0">
                          <a:solidFill>
                            <a:srgbClr val="222222"/>
                          </a:solidFill>
                          <a:latin typeface="Times New Roman" panose="02020603050405020304" pitchFamily="18" charset="0"/>
                          <a:cs typeface="Times New Roman" panose="02020603050405020304" pitchFamily="18" charset="0"/>
                        </a:rPr>
                        <a:t>25B11AI230</a:t>
                      </a:r>
                    </a:p>
                  </a:txBody>
                  <a:tcPr anchor="ctr">
                    <a:solidFill>
                      <a:srgbClr val="EAF1F7"/>
                    </a:solidFill>
                  </a:tcPr>
                </a:tc>
                <a:tc>
                  <a:txBody>
                    <a:bodyPr/>
                    <a:lstStyle/>
                    <a:p>
                      <a:r>
                        <a:rPr lang="en-US" sz="1800" b="0" dirty="0">
                          <a:solidFill>
                            <a:srgbClr val="222222"/>
                          </a:solidFill>
                          <a:latin typeface="Times New Roman" panose="02020603050405020304" pitchFamily="18" charset="0"/>
                          <a:cs typeface="Times New Roman" panose="02020603050405020304" pitchFamily="18" charset="0"/>
                        </a:rPr>
                        <a:t>Chitturi Devi Sri Prasad</a:t>
                      </a:r>
                      <a:endParaRPr sz="1800" b="0" dirty="0">
                        <a:solidFill>
                          <a:srgbClr val="222222"/>
                        </a:solidFill>
                        <a:latin typeface="Times New Roman" panose="02020603050405020304" pitchFamily="18" charset="0"/>
                        <a:cs typeface="Times New Roman" panose="02020603050405020304" pitchFamily="18" charset="0"/>
                      </a:endParaRPr>
                    </a:p>
                  </a:txBody>
                  <a:tcPr anchor="ctr">
                    <a:solidFill>
                      <a:srgbClr val="EAF1F7"/>
                    </a:solidFill>
                  </a:tcPr>
                </a:tc>
                <a:tc>
                  <a:txBody>
                    <a:bodyPr/>
                    <a:lstStyle/>
                    <a:p>
                      <a:r>
                        <a:rPr sz="1800" b="0">
                          <a:solidFill>
                            <a:srgbClr val="222222"/>
                          </a:solidFill>
                          <a:latin typeface="Times New Roman" panose="02020603050405020304" pitchFamily="18" charset="0"/>
                          <a:cs typeface="Times New Roman" panose="02020603050405020304" pitchFamily="18" charset="0"/>
                        </a:rPr>
                        <a:t>Coding – core modules &amp; file handling</a:t>
                      </a:r>
                    </a:p>
                  </a:txBody>
                  <a:tcPr anchor="ctr">
                    <a:solidFill>
                      <a:srgbClr val="EAF1F7"/>
                    </a:solidFill>
                  </a:tcPr>
                </a:tc>
                <a:extLst>
                  <a:ext uri="{0D108BD9-81ED-4DB2-BD59-A6C34878D82A}">
                    <a16:rowId xmlns:a16="http://schemas.microsoft.com/office/drawing/2014/main" val="10002"/>
                  </a:ext>
                </a:extLst>
              </a:tr>
              <a:tr h="640080">
                <a:tc>
                  <a:txBody>
                    <a:bodyPr/>
                    <a:lstStyle/>
                    <a:p>
                      <a:r>
                        <a:rPr sz="1800" b="0" dirty="0">
                          <a:solidFill>
                            <a:srgbClr val="222222"/>
                          </a:solidFill>
                          <a:latin typeface="Times New Roman" panose="02020603050405020304" pitchFamily="18" charset="0"/>
                          <a:cs typeface="Times New Roman" panose="02020603050405020304" pitchFamily="18" charset="0"/>
                        </a:rPr>
                        <a:t>25B11AI963</a:t>
                      </a:r>
                    </a:p>
                  </a:txBody>
                  <a:tcPr anchor="ctr">
                    <a:solidFill>
                      <a:srgbClr val="FFFFFF"/>
                    </a:solidFill>
                  </a:tcPr>
                </a:tc>
                <a:tc>
                  <a:txBody>
                    <a:bodyPr/>
                    <a:lstStyle/>
                    <a:p>
                      <a:r>
                        <a:rPr sz="1800" b="0" dirty="0" err="1">
                          <a:solidFill>
                            <a:srgbClr val="222222"/>
                          </a:solidFill>
                          <a:latin typeface="Times New Roman" panose="02020603050405020304" pitchFamily="18" charset="0"/>
                          <a:cs typeface="Times New Roman" panose="02020603050405020304" pitchFamily="18" charset="0"/>
                        </a:rPr>
                        <a:t>Pithani</a:t>
                      </a:r>
                      <a:r>
                        <a:rPr sz="1800" b="0" dirty="0">
                          <a:solidFill>
                            <a:srgbClr val="222222"/>
                          </a:solidFill>
                          <a:latin typeface="Times New Roman" panose="02020603050405020304" pitchFamily="18" charset="0"/>
                          <a:cs typeface="Times New Roman" panose="02020603050405020304" pitchFamily="18" charset="0"/>
                        </a:rPr>
                        <a:t> Bharath Mahesh</a:t>
                      </a:r>
                    </a:p>
                  </a:txBody>
                  <a:tcPr anchor="ctr">
                    <a:solidFill>
                      <a:srgbClr val="FFFFFF"/>
                    </a:solidFill>
                  </a:tcPr>
                </a:tc>
                <a:tc>
                  <a:txBody>
                    <a:bodyPr/>
                    <a:lstStyle/>
                    <a:p>
                      <a:r>
                        <a:rPr sz="1800" b="0" dirty="0">
                          <a:solidFill>
                            <a:srgbClr val="222222"/>
                          </a:solidFill>
                          <a:latin typeface="Times New Roman" panose="02020603050405020304" pitchFamily="18" charset="0"/>
                          <a:cs typeface="Times New Roman" panose="02020603050405020304" pitchFamily="18" charset="0"/>
                        </a:rPr>
                        <a:t>Testing, debugging &amp; salary calculation</a:t>
                      </a:r>
                    </a:p>
                  </a:txBody>
                  <a:tcPr anchor="ctr">
                    <a:solidFill>
                      <a:srgbClr val="FFFFFF"/>
                    </a:solidFill>
                  </a:tcPr>
                </a:tc>
                <a:extLst>
                  <a:ext uri="{0D108BD9-81ED-4DB2-BD59-A6C34878D82A}">
                    <a16:rowId xmlns:a16="http://schemas.microsoft.com/office/drawing/2014/main" val="10003"/>
                  </a:ext>
                </a:extLst>
              </a:tr>
              <a:tr h="640080">
                <a:tc>
                  <a:txBody>
                    <a:bodyPr/>
                    <a:lstStyle/>
                    <a:p>
                      <a:r>
                        <a:rPr sz="1800" b="0" dirty="0">
                          <a:solidFill>
                            <a:srgbClr val="222222"/>
                          </a:solidFill>
                          <a:latin typeface="Times New Roman" panose="02020603050405020304" pitchFamily="18" charset="0"/>
                          <a:cs typeface="Times New Roman" panose="02020603050405020304" pitchFamily="18" charset="0"/>
                        </a:rPr>
                        <a:t>26B21AI045</a:t>
                      </a:r>
                    </a:p>
                  </a:txBody>
                  <a:tcPr anchor="ctr">
                    <a:solidFill>
                      <a:srgbClr val="EAF1F7"/>
                    </a:solidFill>
                  </a:tcPr>
                </a:tc>
                <a:tc>
                  <a:txBody>
                    <a:bodyPr/>
                    <a:lstStyle/>
                    <a:p>
                      <a:r>
                        <a:rPr lang="en-US" sz="1800" b="0" dirty="0" err="1">
                          <a:solidFill>
                            <a:srgbClr val="222222"/>
                          </a:solidFill>
                          <a:latin typeface="Times New Roman" panose="02020603050405020304" pitchFamily="18" charset="0"/>
                          <a:cs typeface="Times New Roman" panose="02020603050405020304" pitchFamily="18" charset="0"/>
                        </a:rPr>
                        <a:t>Innamuri</a:t>
                      </a:r>
                      <a:r>
                        <a:rPr lang="en-US" sz="1800" b="0" dirty="0">
                          <a:solidFill>
                            <a:srgbClr val="222222"/>
                          </a:solidFill>
                          <a:latin typeface="Times New Roman" panose="02020603050405020304" pitchFamily="18" charset="0"/>
                          <a:cs typeface="Times New Roman" panose="02020603050405020304" pitchFamily="18" charset="0"/>
                        </a:rPr>
                        <a:t> Karthik</a:t>
                      </a:r>
                      <a:endParaRPr sz="1800" b="0" dirty="0">
                        <a:solidFill>
                          <a:srgbClr val="222222"/>
                        </a:solidFill>
                        <a:latin typeface="Times New Roman" panose="02020603050405020304" pitchFamily="18" charset="0"/>
                        <a:cs typeface="Times New Roman" panose="02020603050405020304" pitchFamily="18" charset="0"/>
                      </a:endParaRPr>
                    </a:p>
                  </a:txBody>
                  <a:tcPr anchor="ctr">
                    <a:solidFill>
                      <a:srgbClr val="EAF1F7"/>
                    </a:solidFill>
                  </a:tcPr>
                </a:tc>
                <a:tc>
                  <a:txBody>
                    <a:bodyPr/>
                    <a:lstStyle/>
                    <a:p>
                      <a:r>
                        <a:rPr sz="1800" b="0" dirty="0">
                          <a:solidFill>
                            <a:srgbClr val="222222"/>
                          </a:solidFill>
                          <a:latin typeface="Times New Roman" panose="02020603050405020304" pitchFamily="18" charset="0"/>
                          <a:cs typeface="Times New Roman" panose="02020603050405020304" pitchFamily="18" charset="0"/>
                        </a:rPr>
                        <a:t>UI design, documentation &amp; presentation</a:t>
                      </a:r>
                    </a:p>
                  </a:txBody>
                  <a:tcPr anchor="ctr">
                    <a:solidFill>
                      <a:srgbClr val="EAF1F7"/>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80977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AA2974D-1CE7-ADEF-CAF2-8E40A4E9ACE3}"/>
              </a:ext>
            </a:extLst>
          </p:cNvPr>
          <p:cNvPicPr>
            <a:picLocks noGrp="1" noChangeAspect="1"/>
          </p:cNvPicPr>
          <p:nvPr>
            <p:ph/>
          </p:nvPr>
        </p:nvPicPr>
        <p:blipFill>
          <a:blip r:embed="rId2">
            <a:extLst>
              <a:ext uri="{28A0092B-C50C-407E-A947-70E740481C1C}">
                <a14:useLocalDpi xmlns:a14="http://schemas.microsoft.com/office/drawing/2010/main" val="0"/>
              </a:ext>
            </a:extLst>
          </a:blip>
          <a:stretch>
            <a:fillRect/>
          </a:stretch>
        </p:blipFill>
        <p:spPr>
          <a:xfrm>
            <a:off x="1752600" y="1109886"/>
            <a:ext cx="9525000" cy="5367114"/>
          </a:xfrm>
        </p:spPr>
      </p:pic>
      <p:sp>
        <p:nvSpPr>
          <p:cNvPr id="2" name="Footer Placeholder 1">
            <a:extLst>
              <a:ext uri="{FF2B5EF4-FFF2-40B4-BE49-F238E27FC236}">
                <a16:creationId xmlns:a16="http://schemas.microsoft.com/office/drawing/2014/main" id="{A714BADD-841F-98DA-7B1A-166F39B295D9}"/>
              </a:ext>
            </a:extLst>
          </p:cNvPr>
          <p:cNvSpPr>
            <a:spLocks noGrp="1"/>
          </p:cNvSpPr>
          <p:nvPr>
            <p:ph type="ftr" sz="quarter" idx="2"/>
          </p:nvPr>
        </p:nvSpPr>
        <p:spPr/>
        <p:txBody>
          <a:bodyPr/>
          <a:lstStyle/>
          <a:p>
            <a:r>
              <a:rPr lang="en-US" dirty="0"/>
              <a:t>PBL Course Name: Object Oriented Programming through C++(2501CS08)     REVIEW-2</a:t>
            </a:r>
          </a:p>
        </p:txBody>
      </p:sp>
      <p:sp>
        <p:nvSpPr>
          <p:cNvPr id="3" name="Date Placeholder 2">
            <a:extLst>
              <a:ext uri="{FF2B5EF4-FFF2-40B4-BE49-F238E27FC236}">
                <a16:creationId xmlns:a16="http://schemas.microsoft.com/office/drawing/2014/main" id="{49C0285F-93AB-F1ED-9404-7BA7181450BB}"/>
              </a:ext>
            </a:extLst>
          </p:cNvPr>
          <p:cNvSpPr>
            <a:spLocks noGrp="1"/>
          </p:cNvSpPr>
          <p:nvPr>
            <p:ph type="dt" sz="half" idx="1"/>
          </p:nvPr>
        </p:nvSpPr>
        <p:spPr/>
        <p:txBody>
          <a:bodyPr/>
          <a:lstStyle/>
          <a:p>
            <a:fld id="{3383F8C5-9DCC-4575-9E47-831DF7A3DFC7}" type="datetime1">
              <a:rPr lang="en-US" smtClean="0"/>
              <a:t>9/29/2026</a:t>
            </a:fld>
            <a:endParaRPr lang="en-US" dirty="0"/>
          </a:p>
        </p:txBody>
      </p:sp>
      <p:sp>
        <p:nvSpPr>
          <p:cNvPr id="5" name="Slide Number Placeholder 4">
            <a:extLst>
              <a:ext uri="{FF2B5EF4-FFF2-40B4-BE49-F238E27FC236}">
                <a16:creationId xmlns:a16="http://schemas.microsoft.com/office/drawing/2014/main" id="{62FA9194-EE25-3196-F348-A230F71DC180}"/>
              </a:ext>
            </a:extLst>
          </p:cNvPr>
          <p:cNvSpPr>
            <a:spLocks noGrp="1"/>
          </p:cNvSpPr>
          <p:nvPr>
            <p:ph type="sldNum" sz="quarter" idx="3"/>
          </p:nvPr>
        </p:nvSpPr>
        <p:spPr/>
        <p:txBody>
          <a:bodyPr/>
          <a:lstStyle/>
          <a:p>
            <a:fld id="{9359D16F-76A5-41BA-ADDD-CBF352B33DDD}" type="slidenum">
              <a:rPr lang="en-IN" smtClean="0"/>
              <a:t>13</a:t>
            </a:fld>
            <a:endParaRPr lang="en-IN" dirty="0"/>
          </a:p>
        </p:txBody>
      </p:sp>
    </p:spTree>
    <p:extLst>
      <p:ext uri="{BB962C8B-B14F-4D97-AF65-F5344CB8AC3E}">
        <p14:creationId xmlns:p14="http://schemas.microsoft.com/office/powerpoint/2010/main" val="1453968739"/>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1095</TotalTime>
  <Words>1109</Words>
  <Application>Microsoft Office PowerPoint</Application>
  <PresentationFormat>Widescreen</PresentationFormat>
  <Paragraphs>152</Paragraphs>
  <Slides>13</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 Rounded MT Bold</vt:lpstr>
      <vt:lpstr>Aharoni</vt:lpstr>
      <vt:lpstr>Arial</vt:lpstr>
      <vt:lpstr>Wingdings</vt:lpstr>
      <vt:lpstr>Calibri</vt:lpstr>
      <vt:lpstr>Calibri Light</vt:lpstr>
      <vt:lpstr>Times New Roman</vt:lpstr>
      <vt:lpstr>Maiandra GD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Harshith Saila</dc:creator>
  <cp:lastModifiedBy>Chitturi Prasad</cp:lastModifiedBy>
  <cp:revision>106</cp:revision>
  <cp:lastPrinted>2025-09-02T05:24:44Z</cp:lastPrinted>
  <dcterms:created xsi:type="dcterms:W3CDTF">2025-05-29T13:02:32Z</dcterms:created>
  <dcterms:modified xsi:type="dcterms:W3CDTF">2026-09-29T03:46:25Z</dcterms:modified>
</cp:coreProperties>
</file>